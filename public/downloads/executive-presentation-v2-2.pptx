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548640" y="6492240"/>
            <a:ext cx="11064240" cy="0"/>
          </a:xfrm>
          <a:prstGeom prst="line">
            <a:avLst/>
          </a:prstGeom>
          <a:noFill/>
          <a:ln w="12700">
            <a:solidFill>
              <a:srgbClr val="D8E0E5"/>
            </a:solidFill>
            <a:prstDash val="solid"/>
          </a:ln>
        </p:spPr>
      </p:sp>
      <p:sp>
        <p:nvSpPr>
          <p:cNvPr id="3" name="Text 1"/>
          <p:cNvSpPr/>
          <p:nvPr/>
        </p:nvSpPr>
        <p:spPr>
          <a:xfrm>
            <a:off x="594360" y="6547104"/>
            <a:ext cx="5212080" cy="164592"/>
          </a:xfrm>
          <a:prstGeom prst="rect">
            <a:avLst/>
          </a:prstGeom>
          <a:noFill/>
          <a:ln/>
        </p:spPr>
        <p:txBody>
          <a:bodyPr wrap="square" lIns="0" tIns="0" rIns="0" bIns="0" rtlCol="0" anchor="ctr"/>
          <a:lstStyle/>
          <a:p>
            <a:pPr indent="0" marL="0">
              <a:buNone/>
            </a:pPr>
            <a:r>
              <a:rPr lang="en-US" sz="750" dirty="0">
                <a:solidFill>
                  <a:srgbClr val="61717D"/>
                </a:solidFill>
                <a:latin typeface="Aptos" pitchFamily="34" charset="0"/>
                <a:ea typeface="Aptos" pitchFamily="34" charset="-122"/>
                <a:cs typeface="Aptos" pitchFamily="34" charset="-120"/>
              </a:rPr>
              <a:t>THE ALGORITHM | COMMERCIAL GROWTH ARCHITECTURE</a:t>
            </a:r>
            <a:endParaRPr lang="en-US" sz="75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731520" y="960120"/>
            <a:ext cx="7040880" cy="1325880"/>
          </a:xfrm>
          <a:prstGeom prst="rect">
            <a:avLst/>
          </a:prstGeom>
          <a:noFill/>
          <a:ln/>
        </p:spPr>
        <p:txBody>
          <a:bodyPr wrap="square" lIns="0" tIns="0" rIns="0" bIns="0"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BUILDING THE NEXT</a:t>
            </a:r>
            <a:endParaRPr lang="en-US" sz="3400" dirty="0"/>
          </a:p>
          <a:p>
            <a:pPr indent="0" marL="0">
              <a:buNone/>
            </a:pPr>
            <a:r>
              <a:rPr lang="en-US" sz="3400" b="1" dirty="0">
                <a:solidFill>
                  <a:srgbClr val="FFFFFF"/>
                </a:solidFill>
                <a:latin typeface="Aptos Display" pitchFamily="34" charset="0"/>
                <a:ea typeface="Aptos Display" pitchFamily="34" charset="-122"/>
                <a:cs typeface="Aptos Display" pitchFamily="34" charset="-120"/>
              </a:rPr>
              <a:t>REVENUE ENGINE</a:t>
            </a:r>
            <a:endParaRPr lang="en-US" sz="3400" dirty="0"/>
          </a:p>
        </p:txBody>
      </p:sp>
      <p:sp>
        <p:nvSpPr>
          <p:cNvPr id="3" name="Text 1"/>
          <p:cNvSpPr/>
          <p:nvPr/>
        </p:nvSpPr>
        <p:spPr>
          <a:xfrm>
            <a:off x="749808" y="2514600"/>
            <a:ext cx="6675120" cy="685800"/>
          </a:xfrm>
          <a:prstGeom prst="rect">
            <a:avLst/>
          </a:prstGeom>
          <a:noFill/>
          <a:ln/>
        </p:spPr>
        <p:txBody>
          <a:bodyPr wrap="square" lIns="0" tIns="0" rIns="0" bIns="0" rtlCol="0" anchor="ctr"/>
          <a:lstStyle/>
          <a:p>
            <a:pPr indent="0" marL="0">
              <a:buNone/>
            </a:pPr>
            <a:r>
              <a:rPr lang="en-US" sz="1500" dirty="0">
                <a:solidFill>
                  <a:srgbClr val="DCE6EA"/>
                </a:solidFill>
              </a:rPr>
              <a:t>A commercial operating thesis for turning products, regulated engineering and customer relationships into disciplined growth.</a:t>
            </a:r>
            <a:endParaRPr lang="en-US" sz="1500" dirty="0"/>
          </a:p>
        </p:txBody>
      </p:sp>
      <p:sp>
        <p:nvSpPr>
          <p:cNvPr id="4" name="Shape 2"/>
          <p:cNvSpPr/>
          <p:nvPr/>
        </p:nvSpPr>
        <p:spPr>
          <a:xfrm>
            <a:off x="749808" y="3401568"/>
            <a:ext cx="3840480" cy="0"/>
          </a:xfrm>
          <a:prstGeom prst="line">
            <a:avLst/>
          </a:prstGeom>
          <a:noFill/>
          <a:ln w="25400">
            <a:solidFill>
              <a:srgbClr val="50A2A7"/>
            </a:solidFill>
            <a:prstDash val="solid"/>
          </a:ln>
        </p:spPr>
      </p:sp>
      <p:sp>
        <p:nvSpPr>
          <p:cNvPr id="5" name="Text 3"/>
          <p:cNvSpPr/>
          <p:nvPr/>
        </p:nvSpPr>
        <p:spPr>
          <a:xfrm>
            <a:off x="749808" y="3657600"/>
            <a:ext cx="4023360" cy="228600"/>
          </a:xfrm>
          <a:prstGeom prst="rect">
            <a:avLst/>
          </a:prstGeom>
          <a:noFill/>
          <a:ln/>
        </p:spPr>
        <p:txBody>
          <a:bodyPr wrap="square" lIns="0" tIns="0" rIns="0" bIns="0" rtlCol="0" anchor="ctr"/>
          <a:lstStyle/>
          <a:p>
            <a:pPr indent="0" marL="0">
              <a:buNone/>
            </a:pPr>
            <a:r>
              <a:rPr lang="en-US" sz="900" b="1" spc="70" kern="0" dirty="0">
                <a:solidFill>
                  <a:srgbClr val="8EC5C9"/>
                </a:solidFill>
              </a:rPr>
              <a:t>CEO CONVERSATION DECK  |  V2.2</a:t>
            </a:r>
            <a:endParaRPr lang="en-US" sz="900" dirty="0"/>
          </a:p>
        </p:txBody>
      </p:sp>
      <p:sp>
        <p:nvSpPr>
          <p:cNvPr id="6" name="Shape 4"/>
          <p:cNvSpPr/>
          <p:nvPr/>
        </p:nvSpPr>
        <p:spPr>
          <a:xfrm>
            <a:off x="8229600" y="1097280"/>
            <a:ext cx="2743200" cy="566928"/>
          </a:xfrm>
          <a:prstGeom prst="roundRect">
            <a:avLst>
              <a:gd name="adj" fmla="val 12903"/>
            </a:avLst>
          </a:prstGeom>
          <a:solidFill>
            <a:srgbClr val="1B6B73"/>
          </a:solidFill>
          <a:ln w="12700">
            <a:solidFill>
              <a:srgbClr val="41647C"/>
            </a:solidFill>
            <a:prstDash val="solid"/>
          </a:ln>
        </p:spPr>
      </p:sp>
      <p:sp>
        <p:nvSpPr>
          <p:cNvPr id="7" name="Text 5"/>
          <p:cNvSpPr/>
          <p:nvPr/>
        </p:nvSpPr>
        <p:spPr>
          <a:xfrm>
            <a:off x="8394192" y="1289304"/>
            <a:ext cx="2423160" cy="164592"/>
          </a:xfrm>
          <a:prstGeom prst="rect">
            <a:avLst/>
          </a:prstGeom>
          <a:noFill/>
          <a:ln/>
        </p:spPr>
        <p:txBody>
          <a:bodyPr wrap="square" lIns="0" tIns="0" rIns="0" bIns="0" rtlCol="0" anchor="ctr"/>
          <a:lstStyle/>
          <a:p>
            <a:pPr algn="ctr" indent="0" marL="0">
              <a:buNone/>
            </a:pPr>
            <a:r>
              <a:rPr lang="en-US" sz="1000" b="1" dirty="0">
                <a:solidFill>
                  <a:srgbClr val="FFFFFF"/>
                </a:solidFill>
              </a:rPr>
              <a:t>PRODUCT</a:t>
            </a:r>
            <a:endParaRPr lang="en-US" sz="1000" dirty="0"/>
          </a:p>
        </p:txBody>
      </p:sp>
      <p:sp>
        <p:nvSpPr>
          <p:cNvPr id="8" name="Shape 6"/>
          <p:cNvSpPr/>
          <p:nvPr/>
        </p:nvSpPr>
        <p:spPr>
          <a:xfrm>
            <a:off x="8229600" y="1920240"/>
            <a:ext cx="2743200" cy="566928"/>
          </a:xfrm>
          <a:prstGeom prst="roundRect">
            <a:avLst>
              <a:gd name="adj" fmla="val 12903"/>
            </a:avLst>
          </a:prstGeom>
          <a:solidFill>
            <a:srgbClr val="254865"/>
          </a:solidFill>
          <a:ln w="12700">
            <a:solidFill>
              <a:srgbClr val="41647C"/>
            </a:solidFill>
            <a:prstDash val="solid"/>
          </a:ln>
        </p:spPr>
      </p:sp>
      <p:sp>
        <p:nvSpPr>
          <p:cNvPr id="9" name="Text 7"/>
          <p:cNvSpPr/>
          <p:nvPr/>
        </p:nvSpPr>
        <p:spPr>
          <a:xfrm>
            <a:off x="8394192" y="2112264"/>
            <a:ext cx="2423160" cy="164592"/>
          </a:xfrm>
          <a:prstGeom prst="rect">
            <a:avLst/>
          </a:prstGeom>
          <a:noFill/>
          <a:ln/>
        </p:spPr>
        <p:txBody>
          <a:bodyPr wrap="square" lIns="0" tIns="0" rIns="0" bIns="0" rtlCol="0" anchor="ctr"/>
          <a:lstStyle/>
          <a:p>
            <a:pPr algn="ctr" indent="0" marL="0">
              <a:buNone/>
            </a:pPr>
            <a:r>
              <a:rPr lang="en-US" sz="1000" b="1" dirty="0">
                <a:solidFill>
                  <a:srgbClr val="FFFFFF"/>
                </a:solidFill>
              </a:rPr>
              <a:t>ENGINEERING</a:t>
            </a:r>
            <a:endParaRPr lang="en-US" sz="1000" dirty="0"/>
          </a:p>
        </p:txBody>
      </p:sp>
      <p:sp>
        <p:nvSpPr>
          <p:cNvPr id="10" name="Shape 8"/>
          <p:cNvSpPr/>
          <p:nvPr/>
        </p:nvSpPr>
        <p:spPr>
          <a:xfrm>
            <a:off x="8229600" y="2743200"/>
            <a:ext cx="2743200" cy="566928"/>
          </a:xfrm>
          <a:prstGeom prst="roundRect">
            <a:avLst>
              <a:gd name="adj" fmla="val 12903"/>
            </a:avLst>
          </a:prstGeom>
          <a:solidFill>
            <a:srgbClr val="254865"/>
          </a:solidFill>
          <a:ln w="12700">
            <a:solidFill>
              <a:srgbClr val="41647C"/>
            </a:solidFill>
            <a:prstDash val="solid"/>
          </a:ln>
        </p:spPr>
      </p:sp>
      <p:sp>
        <p:nvSpPr>
          <p:cNvPr id="11" name="Text 9"/>
          <p:cNvSpPr/>
          <p:nvPr/>
        </p:nvSpPr>
        <p:spPr>
          <a:xfrm>
            <a:off x="8394192" y="2935224"/>
            <a:ext cx="2423160" cy="164592"/>
          </a:xfrm>
          <a:prstGeom prst="rect">
            <a:avLst/>
          </a:prstGeom>
          <a:noFill/>
          <a:ln/>
        </p:spPr>
        <p:txBody>
          <a:bodyPr wrap="square" lIns="0" tIns="0" rIns="0" bIns="0" rtlCol="0" anchor="ctr"/>
          <a:lstStyle/>
          <a:p>
            <a:pPr algn="ctr" indent="0" marL="0">
              <a:buNone/>
            </a:pPr>
            <a:r>
              <a:rPr lang="en-US" sz="1000" b="1" dirty="0">
                <a:solidFill>
                  <a:srgbClr val="FFFFFF"/>
                </a:solidFill>
              </a:rPr>
              <a:t>ACCOUNT INTELLIGENCE</a:t>
            </a:r>
            <a:endParaRPr lang="en-US" sz="1000" dirty="0"/>
          </a:p>
        </p:txBody>
      </p:sp>
      <p:sp>
        <p:nvSpPr>
          <p:cNvPr id="12" name="Shape 10"/>
          <p:cNvSpPr/>
          <p:nvPr/>
        </p:nvSpPr>
        <p:spPr>
          <a:xfrm>
            <a:off x="8229600" y="3566160"/>
            <a:ext cx="2743200" cy="566928"/>
          </a:xfrm>
          <a:prstGeom prst="roundRect">
            <a:avLst>
              <a:gd name="adj" fmla="val 12903"/>
            </a:avLst>
          </a:prstGeom>
          <a:solidFill>
            <a:srgbClr val="254865"/>
          </a:solidFill>
          <a:ln w="12700">
            <a:solidFill>
              <a:srgbClr val="41647C"/>
            </a:solidFill>
            <a:prstDash val="solid"/>
          </a:ln>
        </p:spPr>
      </p:sp>
      <p:sp>
        <p:nvSpPr>
          <p:cNvPr id="13" name="Text 11"/>
          <p:cNvSpPr/>
          <p:nvPr/>
        </p:nvSpPr>
        <p:spPr>
          <a:xfrm>
            <a:off x="8394192" y="3758184"/>
            <a:ext cx="2423160" cy="164592"/>
          </a:xfrm>
          <a:prstGeom prst="rect">
            <a:avLst/>
          </a:prstGeom>
          <a:noFill/>
          <a:ln/>
        </p:spPr>
        <p:txBody>
          <a:bodyPr wrap="square" lIns="0" tIns="0" rIns="0" bIns="0" rtlCol="0" anchor="ctr"/>
          <a:lstStyle/>
          <a:p>
            <a:pPr algn="ctr" indent="0" marL="0">
              <a:buNone/>
            </a:pPr>
            <a:r>
              <a:rPr lang="en-US" sz="1000" b="1" dirty="0">
                <a:solidFill>
                  <a:srgbClr val="FFFFFF"/>
                </a:solidFill>
              </a:rPr>
              <a:t>CUSTOMER SUCCESS</a:t>
            </a:r>
            <a:endParaRPr lang="en-US" sz="1000" dirty="0"/>
          </a:p>
        </p:txBody>
      </p:sp>
      <p:sp>
        <p:nvSpPr>
          <p:cNvPr id="14" name="Text 12"/>
          <p:cNvSpPr/>
          <p:nvPr/>
        </p:nvSpPr>
        <p:spPr>
          <a:xfrm>
            <a:off x="8275320" y="4617720"/>
            <a:ext cx="2743200" cy="822960"/>
          </a:xfrm>
          <a:prstGeom prst="rect">
            <a:avLst/>
          </a:prstGeom>
          <a:noFill/>
          <a:ln/>
        </p:spPr>
        <p:txBody>
          <a:bodyPr wrap="square" lIns="0" tIns="0" rIns="0" bIns="0" rtlCol="0" anchor="ctr"/>
          <a:lstStyle/>
          <a:p>
            <a:pPr algn="ctr" indent="0" marL="0">
              <a:buNone/>
            </a:pPr>
            <a:r>
              <a:rPr lang="en-US" sz="1300" b="1" dirty="0">
                <a:solidFill>
                  <a:srgbClr val="DCE6EA"/>
                </a:solidFill>
              </a:rPr>
              <a:t>Revenue is the outcome.</a:t>
            </a:r>
            <a:endParaRPr lang="en-US" sz="1300" dirty="0"/>
          </a:p>
          <a:p>
            <a:pPr algn="ctr" indent="0" marL="0">
              <a:buNone/>
            </a:pPr>
            <a:r>
              <a:rPr lang="en-US" sz="1300" b="1" dirty="0">
                <a:solidFill>
                  <a:srgbClr val="DCE6EA"/>
                </a:solidFill>
              </a:rPr>
              <a:t>The operating system is the strategy.</a:t>
            </a:r>
            <a:endParaRPr lang="en-US" sz="130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01 | WHAT I HEARD</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The commercial opportunity is bigger than lead generation</a:t>
            </a:r>
            <a:endParaRPr lang="en-US" sz="2500" dirty="0"/>
          </a:p>
        </p:txBody>
      </p:sp>
      <p:sp>
        <p:nvSpPr>
          <p:cNvPr id="4" name="Text 2"/>
          <p:cNvSpPr/>
          <p:nvPr/>
        </p:nvSpPr>
        <p:spPr>
          <a:xfrm>
            <a:off x="640080" y="1261872"/>
            <a:ext cx="10515600" cy="475488"/>
          </a:xfrm>
          <a:prstGeom prst="rect">
            <a:avLst/>
          </a:prstGeom>
          <a:noFill/>
          <a:ln/>
        </p:spPr>
        <p:txBody>
          <a:bodyPr wrap="square" lIns="0" tIns="0" rIns="0" bIns="0" rtlCol="0" anchor="ctr"/>
          <a:lstStyle/>
          <a:p>
            <a:pPr indent="0" marL="0">
              <a:buNone/>
            </a:pPr>
            <a:r>
              <a:rPr lang="en-US" sz="1150" dirty="0">
                <a:solidFill>
                  <a:srgbClr val="44546A"/>
                </a:solidFill>
              </a:rPr>
              <a:t>The Algorithm already has products, engineering depth and client relationships. The gap is a repeatable system for choosing, converting and expanding the right opportunities.</a:t>
            </a:r>
            <a:endParaRPr lang="en-US" sz="1150" dirty="0"/>
          </a:p>
        </p:txBody>
      </p:sp>
      <p:sp>
        <p:nvSpPr>
          <p:cNvPr id="5" name="Shape 3"/>
          <p:cNvSpPr/>
          <p:nvPr/>
        </p:nvSpPr>
        <p:spPr>
          <a:xfrm>
            <a:off x="640080" y="1874520"/>
            <a:ext cx="2560320" cy="1874520"/>
          </a:xfrm>
          <a:prstGeom prst="roundRect">
            <a:avLst>
              <a:gd name="adj" fmla="val 3902"/>
            </a:avLst>
          </a:prstGeom>
          <a:solidFill>
            <a:srgbClr val="FFFFFF"/>
          </a:solidFill>
          <a:ln w="12700">
            <a:solidFill>
              <a:srgbClr val="D8E0E5"/>
            </a:solidFill>
            <a:prstDash val="solid"/>
          </a:ln>
        </p:spPr>
      </p:sp>
      <p:sp>
        <p:nvSpPr>
          <p:cNvPr id="6" name="Shape 4"/>
          <p:cNvSpPr/>
          <p:nvPr/>
        </p:nvSpPr>
        <p:spPr>
          <a:xfrm>
            <a:off x="640080" y="1874520"/>
            <a:ext cx="64008" cy="1874520"/>
          </a:xfrm>
          <a:prstGeom prst="rect">
            <a:avLst/>
          </a:prstGeom>
          <a:solidFill>
            <a:srgbClr val="1B6B73"/>
          </a:solidFill>
          <a:ln w="12700">
            <a:solidFill>
              <a:srgbClr val="1B6B73"/>
            </a:solidFill>
            <a:prstDash val="solid"/>
          </a:ln>
        </p:spPr>
      </p:sp>
      <p:sp>
        <p:nvSpPr>
          <p:cNvPr id="7" name="Text 5"/>
          <p:cNvSpPr/>
          <p:nvPr/>
        </p:nvSpPr>
        <p:spPr>
          <a:xfrm>
            <a:off x="822960" y="2020824"/>
            <a:ext cx="2240280" cy="274320"/>
          </a:xfrm>
          <a:prstGeom prst="rect">
            <a:avLst/>
          </a:prstGeom>
          <a:noFill/>
          <a:ln/>
        </p:spPr>
        <p:txBody>
          <a:bodyPr wrap="square" lIns="0" tIns="0" rIns="0" bIns="0" rtlCol="0" anchor="ctr"/>
          <a:lstStyle/>
          <a:p>
            <a:pPr indent="0" marL="0">
              <a:buNone/>
            </a:pPr>
            <a:r>
              <a:rPr lang="en-US" sz="1200" b="1" dirty="0">
                <a:solidFill>
                  <a:srgbClr val="17324D"/>
                </a:solidFill>
              </a:rPr>
              <a:t>Products</a:t>
            </a:r>
            <a:endParaRPr lang="en-US" sz="1200" dirty="0"/>
          </a:p>
        </p:txBody>
      </p:sp>
      <p:sp>
        <p:nvSpPr>
          <p:cNvPr id="8" name="Text 6"/>
          <p:cNvSpPr/>
          <p:nvPr/>
        </p:nvSpPr>
        <p:spPr>
          <a:xfrm>
            <a:off x="822960" y="2377440"/>
            <a:ext cx="2267712" cy="1234440"/>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clinIQ, Regure and SentienGuard create multiple entry points into healthcare, insurance and infrastructure conversations.</a:t>
            </a:r>
            <a:endParaRPr lang="en-US" sz="970" dirty="0"/>
          </a:p>
        </p:txBody>
      </p:sp>
      <p:sp>
        <p:nvSpPr>
          <p:cNvPr id="9" name="Shape 7"/>
          <p:cNvSpPr/>
          <p:nvPr/>
        </p:nvSpPr>
        <p:spPr>
          <a:xfrm>
            <a:off x="3383280" y="1874520"/>
            <a:ext cx="2560320" cy="1874520"/>
          </a:xfrm>
          <a:prstGeom prst="roundRect">
            <a:avLst>
              <a:gd name="adj" fmla="val 3902"/>
            </a:avLst>
          </a:prstGeom>
          <a:solidFill>
            <a:srgbClr val="FFFFFF"/>
          </a:solidFill>
          <a:ln w="12700">
            <a:solidFill>
              <a:srgbClr val="D8E0E5"/>
            </a:solidFill>
            <a:prstDash val="solid"/>
          </a:ln>
        </p:spPr>
      </p:sp>
      <p:sp>
        <p:nvSpPr>
          <p:cNvPr id="10" name="Shape 8"/>
          <p:cNvSpPr/>
          <p:nvPr/>
        </p:nvSpPr>
        <p:spPr>
          <a:xfrm>
            <a:off x="3383280" y="1874520"/>
            <a:ext cx="64008" cy="1874520"/>
          </a:xfrm>
          <a:prstGeom prst="rect">
            <a:avLst/>
          </a:prstGeom>
          <a:solidFill>
            <a:srgbClr val="1B6B73"/>
          </a:solidFill>
          <a:ln w="12700">
            <a:solidFill>
              <a:srgbClr val="1B6B73"/>
            </a:solidFill>
            <a:prstDash val="solid"/>
          </a:ln>
        </p:spPr>
      </p:sp>
      <p:sp>
        <p:nvSpPr>
          <p:cNvPr id="11" name="Text 9"/>
          <p:cNvSpPr/>
          <p:nvPr/>
        </p:nvSpPr>
        <p:spPr>
          <a:xfrm>
            <a:off x="3566160" y="2020824"/>
            <a:ext cx="2240280" cy="274320"/>
          </a:xfrm>
          <a:prstGeom prst="rect">
            <a:avLst/>
          </a:prstGeom>
          <a:noFill/>
          <a:ln/>
        </p:spPr>
        <p:txBody>
          <a:bodyPr wrap="square" lIns="0" tIns="0" rIns="0" bIns="0" rtlCol="0" anchor="ctr"/>
          <a:lstStyle/>
          <a:p>
            <a:pPr indent="0" marL="0">
              <a:buNone/>
            </a:pPr>
            <a:r>
              <a:rPr lang="en-US" sz="1200" b="1" dirty="0">
                <a:solidFill>
                  <a:srgbClr val="17324D"/>
                </a:solidFill>
              </a:rPr>
              <a:t>Engineering</a:t>
            </a:r>
            <a:endParaRPr lang="en-US" sz="1200" dirty="0"/>
          </a:p>
        </p:txBody>
      </p:sp>
      <p:sp>
        <p:nvSpPr>
          <p:cNvPr id="12" name="Text 10"/>
          <p:cNvSpPr/>
          <p:nvPr/>
        </p:nvSpPr>
        <p:spPr>
          <a:xfrm>
            <a:off x="3566160" y="2377440"/>
            <a:ext cx="2267712" cy="1234440"/>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Regulated modernization, AI, cloud and compliance can turn a contained entry into a deeper strategic engagement.</a:t>
            </a:r>
            <a:endParaRPr lang="en-US" sz="970" dirty="0"/>
          </a:p>
        </p:txBody>
      </p:sp>
      <p:sp>
        <p:nvSpPr>
          <p:cNvPr id="13" name="Shape 11"/>
          <p:cNvSpPr/>
          <p:nvPr/>
        </p:nvSpPr>
        <p:spPr>
          <a:xfrm>
            <a:off x="6126480" y="1874520"/>
            <a:ext cx="2560320" cy="1874520"/>
          </a:xfrm>
          <a:prstGeom prst="roundRect">
            <a:avLst>
              <a:gd name="adj" fmla="val 3902"/>
            </a:avLst>
          </a:prstGeom>
          <a:solidFill>
            <a:srgbClr val="FFFFFF"/>
          </a:solidFill>
          <a:ln w="12700">
            <a:solidFill>
              <a:srgbClr val="D8E0E5"/>
            </a:solidFill>
            <a:prstDash val="solid"/>
          </a:ln>
        </p:spPr>
      </p:sp>
      <p:sp>
        <p:nvSpPr>
          <p:cNvPr id="14" name="Shape 12"/>
          <p:cNvSpPr/>
          <p:nvPr/>
        </p:nvSpPr>
        <p:spPr>
          <a:xfrm>
            <a:off x="6126480" y="1874520"/>
            <a:ext cx="64008" cy="1874520"/>
          </a:xfrm>
          <a:prstGeom prst="rect">
            <a:avLst/>
          </a:prstGeom>
          <a:solidFill>
            <a:srgbClr val="1B6B73"/>
          </a:solidFill>
          <a:ln w="12700">
            <a:solidFill>
              <a:srgbClr val="1B6B73"/>
            </a:solidFill>
            <a:prstDash val="solid"/>
          </a:ln>
        </p:spPr>
      </p:sp>
      <p:sp>
        <p:nvSpPr>
          <p:cNvPr id="15" name="Text 13"/>
          <p:cNvSpPr/>
          <p:nvPr/>
        </p:nvSpPr>
        <p:spPr>
          <a:xfrm>
            <a:off x="6309360" y="2020824"/>
            <a:ext cx="2240280" cy="274320"/>
          </a:xfrm>
          <a:prstGeom prst="rect">
            <a:avLst/>
          </a:prstGeom>
          <a:noFill/>
          <a:ln/>
        </p:spPr>
        <p:txBody>
          <a:bodyPr wrap="square" lIns="0" tIns="0" rIns="0" bIns="0" rtlCol="0" anchor="ctr"/>
          <a:lstStyle/>
          <a:p>
            <a:pPr indent="0" marL="0">
              <a:buNone/>
            </a:pPr>
            <a:r>
              <a:rPr lang="en-US" sz="1200" b="1" dirty="0">
                <a:solidFill>
                  <a:srgbClr val="17324D"/>
                </a:solidFill>
              </a:rPr>
              <a:t>Installed Base</a:t>
            </a:r>
            <a:endParaRPr lang="en-US" sz="1200" dirty="0"/>
          </a:p>
        </p:txBody>
      </p:sp>
      <p:sp>
        <p:nvSpPr>
          <p:cNvPr id="16" name="Text 14"/>
          <p:cNvSpPr/>
          <p:nvPr/>
        </p:nvSpPr>
        <p:spPr>
          <a:xfrm>
            <a:off x="6309360" y="2377440"/>
            <a:ext cx="2267712" cy="1234440"/>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Existing service relationships may hold expansion opportunities before we spend heavily on new-logo acquisition.</a:t>
            </a:r>
            <a:endParaRPr lang="en-US" sz="970" dirty="0"/>
          </a:p>
        </p:txBody>
      </p:sp>
      <p:sp>
        <p:nvSpPr>
          <p:cNvPr id="17" name="Shape 15"/>
          <p:cNvSpPr/>
          <p:nvPr/>
        </p:nvSpPr>
        <p:spPr>
          <a:xfrm>
            <a:off x="8869680" y="1874520"/>
            <a:ext cx="2560320" cy="1874520"/>
          </a:xfrm>
          <a:prstGeom prst="roundRect">
            <a:avLst>
              <a:gd name="adj" fmla="val 3902"/>
            </a:avLst>
          </a:prstGeom>
          <a:solidFill>
            <a:srgbClr val="FFFFFF"/>
          </a:solidFill>
          <a:ln w="12700">
            <a:solidFill>
              <a:srgbClr val="D8E0E5"/>
            </a:solidFill>
            <a:prstDash val="solid"/>
          </a:ln>
        </p:spPr>
      </p:sp>
      <p:sp>
        <p:nvSpPr>
          <p:cNvPr id="18" name="Shape 16"/>
          <p:cNvSpPr/>
          <p:nvPr/>
        </p:nvSpPr>
        <p:spPr>
          <a:xfrm>
            <a:off x="8869680" y="1874520"/>
            <a:ext cx="64008" cy="1874520"/>
          </a:xfrm>
          <a:prstGeom prst="rect">
            <a:avLst/>
          </a:prstGeom>
          <a:solidFill>
            <a:srgbClr val="1B6B73"/>
          </a:solidFill>
          <a:ln w="12700">
            <a:solidFill>
              <a:srgbClr val="1B6B73"/>
            </a:solidFill>
            <a:prstDash val="solid"/>
          </a:ln>
        </p:spPr>
      </p:sp>
      <p:sp>
        <p:nvSpPr>
          <p:cNvPr id="19" name="Text 17"/>
          <p:cNvSpPr/>
          <p:nvPr/>
        </p:nvSpPr>
        <p:spPr>
          <a:xfrm>
            <a:off x="9052560" y="2020824"/>
            <a:ext cx="2240280" cy="274320"/>
          </a:xfrm>
          <a:prstGeom prst="rect">
            <a:avLst/>
          </a:prstGeom>
          <a:noFill/>
          <a:ln/>
        </p:spPr>
        <p:txBody>
          <a:bodyPr wrap="square" lIns="0" tIns="0" rIns="0" bIns="0" rtlCol="0" anchor="ctr"/>
          <a:lstStyle/>
          <a:p>
            <a:pPr indent="0" marL="0">
              <a:buNone/>
            </a:pPr>
            <a:r>
              <a:rPr lang="en-US" sz="1200" b="1" dirty="0">
                <a:solidFill>
                  <a:srgbClr val="17324D"/>
                </a:solidFill>
              </a:rPr>
              <a:t>Founder-Led History</a:t>
            </a:r>
            <a:endParaRPr lang="en-US" sz="1200" dirty="0"/>
          </a:p>
        </p:txBody>
      </p:sp>
      <p:sp>
        <p:nvSpPr>
          <p:cNvPr id="20" name="Text 18"/>
          <p:cNvSpPr/>
          <p:nvPr/>
        </p:nvSpPr>
        <p:spPr>
          <a:xfrm>
            <a:off x="9052560" y="2377440"/>
            <a:ext cx="2267712" cy="1234440"/>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Network and referrals have worked. The next step is adding research, qualification, account intelligence and commercial cadence.</a:t>
            </a:r>
            <a:endParaRPr lang="en-US" sz="970" dirty="0"/>
          </a:p>
        </p:txBody>
      </p:sp>
      <p:sp>
        <p:nvSpPr>
          <p:cNvPr id="21" name="Shape 19"/>
          <p:cNvSpPr/>
          <p:nvPr/>
        </p:nvSpPr>
        <p:spPr>
          <a:xfrm>
            <a:off x="1097280" y="4251960"/>
            <a:ext cx="9966960" cy="1051560"/>
          </a:xfrm>
          <a:prstGeom prst="roundRect">
            <a:avLst>
              <a:gd name="adj" fmla="val 6957"/>
            </a:avLst>
          </a:prstGeom>
          <a:solidFill>
            <a:srgbClr val="EAF0F3"/>
          </a:solidFill>
          <a:ln w="12700">
            <a:solidFill>
              <a:srgbClr val="D8E0E5"/>
            </a:solidFill>
            <a:prstDash val="solid"/>
          </a:ln>
        </p:spPr>
      </p:sp>
      <p:sp>
        <p:nvSpPr>
          <p:cNvPr id="22" name="Text 20"/>
          <p:cNvSpPr/>
          <p:nvPr/>
        </p:nvSpPr>
        <p:spPr>
          <a:xfrm>
            <a:off x="1325880" y="4507992"/>
            <a:ext cx="1280160" cy="201168"/>
          </a:xfrm>
          <a:prstGeom prst="rect">
            <a:avLst/>
          </a:prstGeom>
          <a:noFill/>
          <a:ln/>
        </p:spPr>
        <p:txBody>
          <a:bodyPr wrap="square" lIns="0" tIns="0" rIns="0" bIns="0" rtlCol="0" anchor="ctr"/>
          <a:lstStyle/>
          <a:p>
            <a:pPr indent="0" marL="0">
              <a:buNone/>
            </a:pPr>
            <a:r>
              <a:rPr lang="en-US" sz="900" b="1" dirty="0">
                <a:solidFill>
                  <a:srgbClr val="1B6B73"/>
                </a:solidFill>
              </a:rPr>
              <a:t>THE THESIS</a:t>
            </a:r>
            <a:endParaRPr lang="en-US" sz="900" dirty="0"/>
          </a:p>
        </p:txBody>
      </p:sp>
      <p:sp>
        <p:nvSpPr>
          <p:cNvPr id="23" name="Text 21"/>
          <p:cNvSpPr/>
          <p:nvPr/>
        </p:nvSpPr>
        <p:spPr>
          <a:xfrm>
            <a:off x="2514600" y="4416552"/>
            <a:ext cx="8046720" cy="438912"/>
          </a:xfrm>
          <a:prstGeom prst="rect">
            <a:avLst/>
          </a:prstGeom>
          <a:noFill/>
          <a:ln/>
        </p:spPr>
        <p:txBody>
          <a:bodyPr wrap="square" lIns="0" tIns="0" rIns="0" bIns="0" rtlCol="0" anchor="ctr"/>
          <a:lstStyle/>
          <a:p>
            <a:pPr indent="0" marL="0">
              <a:buNone/>
            </a:pPr>
            <a:r>
              <a:rPr lang="en-US" sz="1400" b="1" dirty="0">
                <a:solidFill>
                  <a:srgbClr val="17324D"/>
                </a:solidFill>
              </a:rPr>
              <a:t>The capability exists. The opportunity is to make commercial growth systematic without pretending revenue is predictable before the baseline is known.</a:t>
            </a:r>
            <a:endParaRPr lang="en-US" sz="140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02 | WHAT I UNDERSTAND</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Four engines. Different entry motions. One account-growth system.</a:t>
            </a:r>
            <a:endParaRPr lang="en-US" sz="2500" dirty="0"/>
          </a:p>
        </p:txBody>
      </p:sp>
      <p:sp>
        <p:nvSpPr>
          <p:cNvPr id="4" name="Text 2"/>
          <p:cNvSpPr/>
          <p:nvPr/>
        </p:nvSpPr>
        <p:spPr>
          <a:xfrm>
            <a:off x="731520" y="1792224"/>
            <a:ext cx="411480" cy="256032"/>
          </a:xfrm>
          <a:prstGeom prst="rect">
            <a:avLst/>
          </a:prstGeom>
          <a:noFill/>
          <a:ln/>
        </p:spPr>
        <p:txBody>
          <a:bodyPr wrap="square" lIns="0" tIns="0" rIns="0" bIns="0" rtlCol="0" anchor="ctr"/>
          <a:lstStyle/>
          <a:p>
            <a:pPr indent="0" marL="0">
              <a:buNone/>
            </a:pPr>
            <a:r>
              <a:rPr lang="en-US" sz="1100" b="1" dirty="0">
                <a:solidFill>
                  <a:srgbClr val="1B6B73"/>
                </a:solidFill>
              </a:rPr>
              <a:t>01</a:t>
            </a:r>
            <a:endParaRPr lang="en-US" sz="1100" dirty="0"/>
          </a:p>
        </p:txBody>
      </p:sp>
      <p:sp>
        <p:nvSpPr>
          <p:cNvPr id="5" name="Text 3"/>
          <p:cNvSpPr/>
          <p:nvPr/>
        </p:nvSpPr>
        <p:spPr>
          <a:xfrm>
            <a:off x="1234440" y="1737360"/>
            <a:ext cx="1828800" cy="292608"/>
          </a:xfrm>
          <a:prstGeom prst="rect">
            <a:avLst/>
          </a:prstGeom>
          <a:noFill/>
          <a:ln/>
        </p:spPr>
        <p:txBody>
          <a:bodyPr wrap="square" lIns="0" tIns="0" rIns="0" bIns="0" rtlCol="0" anchor="ctr"/>
          <a:lstStyle/>
          <a:p>
            <a:pPr indent="0" marL="0">
              <a:buNone/>
            </a:pPr>
            <a:r>
              <a:rPr lang="en-US" sz="1500" b="1" dirty="0">
                <a:solidFill>
                  <a:srgbClr val="17324D"/>
                </a:solidFill>
              </a:rPr>
              <a:t>clinIQ</a:t>
            </a:r>
            <a:endParaRPr lang="en-US" sz="1500" dirty="0"/>
          </a:p>
        </p:txBody>
      </p:sp>
      <p:sp>
        <p:nvSpPr>
          <p:cNvPr id="6" name="Text 4"/>
          <p:cNvSpPr/>
          <p:nvPr/>
        </p:nvSpPr>
        <p:spPr>
          <a:xfrm>
            <a:off x="3063240" y="1737360"/>
            <a:ext cx="3840480" cy="310896"/>
          </a:xfrm>
          <a:prstGeom prst="rect">
            <a:avLst/>
          </a:prstGeom>
          <a:noFill/>
          <a:ln/>
        </p:spPr>
        <p:txBody>
          <a:bodyPr wrap="square" lIns="0" tIns="0" rIns="0" bIns="0" rtlCol="0" anchor="ctr"/>
          <a:lstStyle/>
          <a:p>
            <a:pPr indent="0" marL="0">
              <a:buNone/>
            </a:pPr>
            <a:r>
              <a:rPr lang="en-US" sz="1050" dirty="0">
                <a:solidFill>
                  <a:srgbClr val="222222"/>
                </a:solidFill>
              </a:rPr>
              <a:t>Operational layer around the clinic journey and existing EHR.</a:t>
            </a:r>
            <a:endParaRPr lang="en-US" sz="1050" dirty="0"/>
          </a:p>
        </p:txBody>
      </p:sp>
      <p:sp>
        <p:nvSpPr>
          <p:cNvPr id="7" name="Text 5"/>
          <p:cNvSpPr/>
          <p:nvPr/>
        </p:nvSpPr>
        <p:spPr>
          <a:xfrm>
            <a:off x="7086600" y="1737360"/>
            <a:ext cx="4023360" cy="347472"/>
          </a:xfrm>
          <a:prstGeom prst="rect">
            <a:avLst/>
          </a:prstGeom>
          <a:noFill/>
          <a:ln/>
        </p:spPr>
        <p:txBody>
          <a:bodyPr wrap="square" lIns="0" tIns="0" rIns="0" bIns="0" rtlCol="0" anchor="ctr"/>
          <a:lstStyle/>
          <a:p>
            <a:pPr indent="0" marL="0">
              <a:buNone/>
            </a:pPr>
            <a:r>
              <a:rPr lang="en-US" sz="1050" b="1" dirty="0">
                <a:solidFill>
                  <a:srgbClr val="44546A"/>
                </a:solidFill>
              </a:rPr>
              <a:t>Patient flow, intake, RTM, pre-auth, multi-site operations.</a:t>
            </a:r>
            <a:endParaRPr lang="en-US" sz="1050" dirty="0"/>
          </a:p>
        </p:txBody>
      </p:sp>
      <p:sp>
        <p:nvSpPr>
          <p:cNvPr id="8" name="Shape 6"/>
          <p:cNvSpPr/>
          <p:nvPr/>
        </p:nvSpPr>
        <p:spPr>
          <a:xfrm>
            <a:off x="731520" y="2331720"/>
            <a:ext cx="10332720" cy="0"/>
          </a:xfrm>
          <a:prstGeom prst="line">
            <a:avLst/>
          </a:prstGeom>
          <a:noFill/>
          <a:ln w="12700">
            <a:solidFill>
              <a:srgbClr val="D8E0E5"/>
            </a:solidFill>
            <a:prstDash val="solid"/>
          </a:ln>
        </p:spPr>
      </p:sp>
      <p:sp>
        <p:nvSpPr>
          <p:cNvPr id="9" name="Text 7"/>
          <p:cNvSpPr/>
          <p:nvPr/>
        </p:nvSpPr>
        <p:spPr>
          <a:xfrm>
            <a:off x="731520" y="2871216"/>
            <a:ext cx="411480" cy="256032"/>
          </a:xfrm>
          <a:prstGeom prst="rect">
            <a:avLst/>
          </a:prstGeom>
          <a:noFill/>
          <a:ln/>
        </p:spPr>
        <p:txBody>
          <a:bodyPr wrap="square" lIns="0" tIns="0" rIns="0" bIns="0" rtlCol="0" anchor="ctr"/>
          <a:lstStyle/>
          <a:p>
            <a:pPr indent="0" marL="0">
              <a:buNone/>
            </a:pPr>
            <a:r>
              <a:rPr lang="en-US" sz="1100" b="1" dirty="0">
                <a:solidFill>
                  <a:srgbClr val="1B6B73"/>
                </a:solidFill>
              </a:rPr>
              <a:t>02</a:t>
            </a:r>
            <a:endParaRPr lang="en-US" sz="1100" dirty="0"/>
          </a:p>
        </p:txBody>
      </p:sp>
      <p:sp>
        <p:nvSpPr>
          <p:cNvPr id="10" name="Text 8"/>
          <p:cNvSpPr/>
          <p:nvPr/>
        </p:nvSpPr>
        <p:spPr>
          <a:xfrm>
            <a:off x="1234440" y="2816352"/>
            <a:ext cx="1828800" cy="292608"/>
          </a:xfrm>
          <a:prstGeom prst="rect">
            <a:avLst/>
          </a:prstGeom>
          <a:noFill/>
          <a:ln/>
        </p:spPr>
        <p:txBody>
          <a:bodyPr wrap="square" lIns="0" tIns="0" rIns="0" bIns="0" rtlCol="0" anchor="ctr"/>
          <a:lstStyle/>
          <a:p>
            <a:pPr indent="0" marL="0">
              <a:buNone/>
            </a:pPr>
            <a:r>
              <a:rPr lang="en-US" sz="1500" b="1" dirty="0">
                <a:solidFill>
                  <a:srgbClr val="17324D"/>
                </a:solidFill>
              </a:rPr>
              <a:t>Regure</a:t>
            </a:r>
            <a:endParaRPr lang="en-US" sz="1500" dirty="0"/>
          </a:p>
        </p:txBody>
      </p:sp>
      <p:sp>
        <p:nvSpPr>
          <p:cNvPr id="11" name="Text 9"/>
          <p:cNvSpPr/>
          <p:nvPr/>
        </p:nvSpPr>
        <p:spPr>
          <a:xfrm>
            <a:off x="3063240" y="2816352"/>
            <a:ext cx="3840480" cy="310896"/>
          </a:xfrm>
          <a:prstGeom prst="rect">
            <a:avLst/>
          </a:prstGeom>
          <a:noFill/>
          <a:ln/>
        </p:spPr>
        <p:txBody>
          <a:bodyPr wrap="square" lIns="0" tIns="0" rIns="0" bIns="0" rtlCol="0" anchor="ctr"/>
          <a:lstStyle/>
          <a:p>
            <a:pPr indent="0" marL="0">
              <a:buNone/>
            </a:pPr>
            <a:r>
              <a:rPr lang="en-US" sz="1050" dirty="0">
                <a:solidFill>
                  <a:srgbClr val="222222"/>
                </a:solidFill>
              </a:rPr>
              <a:t>Claims/document intelligence around insurance core platforms.</a:t>
            </a:r>
            <a:endParaRPr lang="en-US" sz="1050" dirty="0"/>
          </a:p>
        </p:txBody>
      </p:sp>
      <p:sp>
        <p:nvSpPr>
          <p:cNvPr id="12" name="Text 10"/>
          <p:cNvSpPr/>
          <p:nvPr/>
        </p:nvSpPr>
        <p:spPr>
          <a:xfrm>
            <a:off x="7086600" y="2816352"/>
            <a:ext cx="4023360" cy="347472"/>
          </a:xfrm>
          <a:prstGeom prst="rect">
            <a:avLst/>
          </a:prstGeom>
          <a:noFill/>
          <a:ln/>
        </p:spPr>
        <p:txBody>
          <a:bodyPr wrap="square" lIns="0" tIns="0" rIns="0" bIns="0" rtlCol="0" anchor="ctr"/>
          <a:lstStyle/>
          <a:p>
            <a:pPr indent="0" marL="0">
              <a:buNone/>
            </a:pPr>
            <a:r>
              <a:rPr lang="en-US" sz="1050" b="1" dirty="0">
                <a:solidFill>
                  <a:srgbClr val="44546A"/>
                </a:solidFill>
              </a:rPr>
              <a:t>Workflow friction around Guidewire, Duck Creek and adjacent operations.</a:t>
            </a:r>
            <a:endParaRPr lang="en-US" sz="1050" dirty="0"/>
          </a:p>
        </p:txBody>
      </p:sp>
      <p:sp>
        <p:nvSpPr>
          <p:cNvPr id="13" name="Shape 11"/>
          <p:cNvSpPr/>
          <p:nvPr/>
        </p:nvSpPr>
        <p:spPr>
          <a:xfrm>
            <a:off x="731520" y="3410712"/>
            <a:ext cx="10332720" cy="0"/>
          </a:xfrm>
          <a:prstGeom prst="line">
            <a:avLst/>
          </a:prstGeom>
          <a:noFill/>
          <a:ln w="12700">
            <a:solidFill>
              <a:srgbClr val="D8E0E5"/>
            </a:solidFill>
            <a:prstDash val="solid"/>
          </a:ln>
        </p:spPr>
      </p:sp>
      <p:sp>
        <p:nvSpPr>
          <p:cNvPr id="14" name="Text 12"/>
          <p:cNvSpPr/>
          <p:nvPr/>
        </p:nvSpPr>
        <p:spPr>
          <a:xfrm>
            <a:off x="731520" y="3950208"/>
            <a:ext cx="411480" cy="256032"/>
          </a:xfrm>
          <a:prstGeom prst="rect">
            <a:avLst/>
          </a:prstGeom>
          <a:noFill/>
          <a:ln/>
        </p:spPr>
        <p:txBody>
          <a:bodyPr wrap="square" lIns="0" tIns="0" rIns="0" bIns="0" rtlCol="0" anchor="ctr"/>
          <a:lstStyle/>
          <a:p>
            <a:pPr indent="0" marL="0">
              <a:buNone/>
            </a:pPr>
            <a:r>
              <a:rPr lang="en-US" sz="1100" b="1" dirty="0">
                <a:solidFill>
                  <a:srgbClr val="1B6B73"/>
                </a:solidFill>
              </a:rPr>
              <a:t>03</a:t>
            </a:r>
            <a:endParaRPr lang="en-US" sz="1100" dirty="0"/>
          </a:p>
        </p:txBody>
      </p:sp>
      <p:sp>
        <p:nvSpPr>
          <p:cNvPr id="15" name="Text 13"/>
          <p:cNvSpPr/>
          <p:nvPr/>
        </p:nvSpPr>
        <p:spPr>
          <a:xfrm>
            <a:off x="1234440" y="3895344"/>
            <a:ext cx="1828800" cy="292608"/>
          </a:xfrm>
          <a:prstGeom prst="rect">
            <a:avLst/>
          </a:prstGeom>
          <a:noFill/>
          <a:ln/>
        </p:spPr>
        <p:txBody>
          <a:bodyPr wrap="square" lIns="0" tIns="0" rIns="0" bIns="0" rtlCol="0" anchor="ctr"/>
          <a:lstStyle/>
          <a:p>
            <a:pPr indent="0" marL="0">
              <a:buNone/>
            </a:pPr>
            <a:r>
              <a:rPr lang="en-US" sz="1500" b="1" dirty="0">
                <a:solidFill>
                  <a:srgbClr val="17324D"/>
                </a:solidFill>
              </a:rPr>
              <a:t>SentienGuard</a:t>
            </a:r>
            <a:endParaRPr lang="en-US" sz="1500" dirty="0"/>
          </a:p>
        </p:txBody>
      </p:sp>
      <p:sp>
        <p:nvSpPr>
          <p:cNvPr id="16" name="Text 14"/>
          <p:cNvSpPr/>
          <p:nvPr/>
        </p:nvSpPr>
        <p:spPr>
          <a:xfrm>
            <a:off x="3063240" y="3895344"/>
            <a:ext cx="3840480" cy="310896"/>
          </a:xfrm>
          <a:prstGeom prst="rect">
            <a:avLst/>
          </a:prstGeom>
          <a:noFill/>
          <a:ln/>
        </p:spPr>
        <p:txBody>
          <a:bodyPr wrap="square" lIns="0" tIns="0" rIns="0" bIns="0" rtlCol="0" anchor="ctr"/>
          <a:lstStyle/>
          <a:p>
            <a:pPr indent="0" marL="0">
              <a:buNone/>
            </a:pPr>
            <a:r>
              <a:rPr lang="en-US" sz="1050" dirty="0">
                <a:solidFill>
                  <a:srgbClr val="222222"/>
                </a:solidFill>
              </a:rPr>
              <a:t>Remediation layer after monitoring.</a:t>
            </a:r>
            <a:endParaRPr lang="en-US" sz="1050" dirty="0"/>
          </a:p>
        </p:txBody>
      </p:sp>
      <p:sp>
        <p:nvSpPr>
          <p:cNvPr id="17" name="Text 15"/>
          <p:cNvSpPr/>
          <p:nvPr/>
        </p:nvSpPr>
        <p:spPr>
          <a:xfrm>
            <a:off x="7086600" y="3895344"/>
            <a:ext cx="4023360" cy="347472"/>
          </a:xfrm>
          <a:prstGeom prst="rect">
            <a:avLst/>
          </a:prstGeom>
          <a:noFill/>
          <a:ln/>
        </p:spPr>
        <p:txBody>
          <a:bodyPr wrap="square" lIns="0" tIns="0" rIns="0" bIns="0" rtlCol="0" anchor="ctr"/>
          <a:lstStyle/>
          <a:p>
            <a:pPr indent="0" marL="0">
              <a:buNone/>
            </a:pPr>
            <a:r>
              <a:rPr lang="en-US" sz="1050" b="1" dirty="0">
                <a:solidFill>
                  <a:srgbClr val="44546A"/>
                </a:solidFill>
              </a:rPr>
              <a:t>Repetitive incidents, SRE toil and controlled autonomy.</a:t>
            </a:r>
            <a:endParaRPr lang="en-US" sz="1050" dirty="0"/>
          </a:p>
        </p:txBody>
      </p:sp>
      <p:sp>
        <p:nvSpPr>
          <p:cNvPr id="18" name="Shape 16"/>
          <p:cNvSpPr/>
          <p:nvPr/>
        </p:nvSpPr>
        <p:spPr>
          <a:xfrm>
            <a:off x="731520" y="4489704"/>
            <a:ext cx="10332720" cy="0"/>
          </a:xfrm>
          <a:prstGeom prst="line">
            <a:avLst/>
          </a:prstGeom>
          <a:noFill/>
          <a:ln w="12700">
            <a:solidFill>
              <a:srgbClr val="D8E0E5"/>
            </a:solidFill>
            <a:prstDash val="solid"/>
          </a:ln>
        </p:spPr>
      </p:sp>
      <p:sp>
        <p:nvSpPr>
          <p:cNvPr id="19" name="Text 17"/>
          <p:cNvSpPr/>
          <p:nvPr/>
        </p:nvSpPr>
        <p:spPr>
          <a:xfrm>
            <a:off x="731520" y="5029200"/>
            <a:ext cx="411480" cy="256032"/>
          </a:xfrm>
          <a:prstGeom prst="rect">
            <a:avLst/>
          </a:prstGeom>
          <a:noFill/>
          <a:ln/>
        </p:spPr>
        <p:txBody>
          <a:bodyPr wrap="square" lIns="0" tIns="0" rIns="0" bIns="0" rtlCol="0" anchor="ctr"/>
          <a:lstStyle/>
          <a:p>
            <a:pPr indent="0" marL="0">
              <a:buNone/>
            </a:pPr>
            <a:r>
              <a:rPr lang="en-US" sz="1100" b="1" dirty="0">
                <a:solidFill>
                  <a:srgbClr val="1B6B73"/>
                </a:solidFill>
              </a:rPr>
              <a:t>04</a:t>
            </a:r>
            <a:endParaRPr lang="en-US" sz="1100" dirty="0"/>
          </a:p>
        </p:txBody>
      </p:sp>
      <p:sp>
        <p:nvSpPr>
          <p:cNvPr id="20" name="Text 18"/>
          <p:cNvSpPr/>
          <p:nvPr/>
        </p:nvSpPr>
        <p:spPr>
          <a:xfrm>
            <a:off x="1234440" y="4974336"/>
            <a:ext cx="1828800" cy="292608"/>
          </a:xfrm>
          <a:prstGeom prst="rect">
            <a:avLst/>
          </a:prstGeom>
          <a:noFill/>
          <a:ln/>
        </p:spPr>
        <p:txBody>
          <a:bodyPr wrap="square" lIns="0" tIns="0" rIns="0" bIns="0" rtlCol="0" anchor="ctr"/>
          <a:lstStyle/>
          <a:p>
            <a:pPr indent="0" marL="0">
              <a:buNone/>
            </a:pPr>
            <a:r>
              <a:rPr lang="en-US" sz="1500" b="1" dirty="0">
                <a:solidFill>
                  <a:srgbClr val="17324D"/>
                </a:solidFill>
              </a:rPr>
              <a:t>Regulated Engineering</a:t>
            </a:r>
            <a:endParaRPr lang="en-US" sz="1500" dirty="0"/>
          </a:p>
        </p:txBody>
      </p:sp>
      <p:sp>
        <p:nvSpPr>
          <p:cNvPr id="21" name="Text 19"/>
          <p:cNvSpPr/>
          <p:nvPr/>
        </p:nvSpPr>
        <p:spPr>
          <a:xfrm>
            <a:off x="3063240" y="4974336"/>
            <a:ext cx="3840480" cy="310896"/>
          </a:xfrm>
          <a:prstGeom prst="rect">
            <a:avLst/>
          </a:prstGeom>
          <a:noFill/>
          <a:ln/>
        </p:spPr>
        <p:txBody>
          <a:bodyPr wrap="square" lIns="0" tIns="0" rIns="0" bIns="0" rtlCol="0" anchor="ctr"/>
          <a:lstStyle/>
          <a:p>
            <a:pPr indent="0" marL="0">
              <a:buNone/>
            </a:pPr>
            <a:r>
              <a:rPr lang="en-US" sz="1050" dirty="0">
                <a:solidFill>
                  <a:srgbClr val="222222"/>
                </a:solidFill>
              </a:rPr>
              <a:t>Outcome-owned engineering for difficult regulated technology problems.</a:t>
            </a:r>
            <a:endParaRPr lang="en-US" sz="1050" dirty="0"/>
          </a:p>
        </p:txBody>
      </p:sp>
      <p:sp>
        <p:nvSpPr>
          <p:cNvPr id="22" name="Text 20"/>
          <p:cNvSpPr/>
          <p:nvPr/>
        </p:nvSpPr>
        <p:spPr>
          <a:xfrm>
            <a:off x="7086600" y="4974336"/>
            <a:ext cx="4023360" cy="347472"/>
          </a:xfrm>
          <a:prstGeom prst="rect">
            <a:avLst/>
          </a:prstGeom>
          <a:noFill/>
          <a:ln/>
        </p:spPr>
        <p:txBody>
          <a:bodyPr wrap="square" lIns="0" tIns="0" rIns="0" bIns="0" rtlCol="0" anchor="ctr"/>
          <a:lstStyle/>
          <a:p>
            <a:pPr indent="0" marL="0">
              <a:buNone/>
            </a:pPr>
            <a:r>
              <a:rPr lang="en-US" sz="1050" b="1" dirty="0">
                <a:solidFill>
                  <a:srgbClr val="44546A"/>
                </a:solidFill>
              </a:rPr>
              <a:t>Modernization, production AI, compliance architecture, regulated cloud.</a:t>
            </a:r>
            <a:endParaRPr lang="en-US" sz="1050" dirty="0"/>
          </a:p>
        </p:txBody>
      </p:sp>
      <p:sp>
        <p:nvSpPr>
          <p:cNvPr id="23" name="Shape 21"/>
          <p:cNvSpPr/>
          <p:nvPr/>
        </p:nvSpPr>
        <p:spPr>
          <a:xfrm>
            <a:off x="731520" y="5568696"/>
            <a:ext cx="10332720" cy="0"/>
          </a:xfrm>
          <a:prstGeom prst="line">
            <a:avLst/>
          </a:prstGeom>
          <a:noFill/>
          <a:ln w="12700">
            <a:solidFill>
              <a:srgbClr val="D8E0E5"/>
            </a:solidFill>
            <a:prstDash val="solid"/>
          </a:ln>
        </p:spPr>
      </p:sp>
      <p:sp>
        <p:nvSpPr>
          <p:cNvPr id="24" name="Text 22"/>
          <p:cNvSpPr/>
          <p:nvPr/>
        </p:nvSpPr>
        <p:spPr>
          <a:xfrm>
            <a:off x="1051560" y="5897880"/>
            <a:ext cx="10058400" cy="365760"/>
          </a:xfrm>
          <a:prstGeom prst="rect">
            <a:avLst/>
          </a:prstGeom>
          <a:noFill/>
          <a:ln/>
        </p:spPr>
        <p:txBody>
          <a:bodyPr wrap="square" lIns="0" tIns="0" rIns="0" bIns="0" rtlCol="0" anchor="ctr"/>
          <a:lstStyle/>
          <a:p>
            <a:pPr algn="ctr" indent="0" marL="0">
              <a:buNone/>
            </a:pPr>
            <a:r>
              <a:rPr lang="en-US" sz="1150" b="1" dirty="0">
                <a:solidFill>
                  <a:srgbClr val="1B6B73"/>
                </a:solidFill>
              </a:rPr>
              <a:t>Different products require different discovery and proof. They should still feed the same account intelligence, pipeline discipline and expansion architecture.</a:t>
            </a:r>
            <a:endParaRPr lang="en-US" sz="115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03 | WHERE I WOULD START</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Focus is earned through evidence, not geography alone</a:t>
            </a:r>
            <a:endParaRPr lang="en-US" sz="2500" dirty="0"/>
          </a:p>
        </p:txBody>
      </p:sp>
      <p:sp>
        <p:nvSpPr>
          <p:cNvPr id="4" name="Text 2"/>
          <p:cNvSpPr/>
          <p:nvPr/>
        </p:nvSpPr>
        <p:spPr>
          <a:xfrm>
            <a:off x="640080" y="1261872"/>
            <a:ext cx="10515600" cy="475488"/>
          </a:xfrm>
          <a:prstGeom prst="rect">
            <a:avLst/>
          </a:prstGeom>
          <a:noFill/>
          <a:ln/>
        </p:spPr>
        <p:txBody>
          <a:bodyPr wrap="square" lIns="0" tIns="0" rIns="0" bIns="0" rtlCol="0" anchor="ctr"/>
          <a:lstStyle/>
          <a:p>
            <a:pPr indent="0" marL="0">
              <a:buNone/>
            </a:pPr>
            <a:r>
              <a:rPr lang="en-US" sz="1150" dirty="0">
                <a:solidFill>
                  <a:srgbClr val="44546A"/>
                </a:solidFill>
              </a:rPr>
              <a:t>Priority 1: US and UAE. Priority 2: UK and India. Product availability and account triggers determine where we actually act.</a:t>
            </a:r>
            <a:endParaRPr lang="en-US" sz="1150" dirty="0"/>
          </a:p>
        </p:txBody>
      </p:sp>
      <p:sp>
        <p:nvSpPr>
          <p:cNvPr id="5" name="Shape 3"/>
          <p:cNvSpPr/>
          <p:nvPr/>
        </p:nvSpPr>
        <p:spPr>
          <a:xfrm>
            <a:off x="685800" y="1874520"/>
            <a:ext cx="2514600" cy="2971800"/>
          </a:xfrm>
          <a:prstGeom prst="roundRect">
            <a:avLst>
              <a:gd name="adj" fmla="val 2909"/>
            </a:avLst>
          </a:prstGeom>
          <a:solidFill>
            <a:srgbClr val="FFFFFF"/>
          </a:solidFill>
          <a:ln w="12700">
            <a:solidFill>
              <a:srgbClr val="D8E0E5"/>
            </a:solidFill>
            <a:prstDash val="solid"/>
          </a:ln>
        </p:spPr>
      </p:sp>
      <p:sp>
        <p:nvSpPr>
          <p:cNvPr id="6" name="Shape 4"/>
          <p:cNvSpPr/>
          <p:nvPr/>
        </p:nvSpPr>
        <p:spPr>
          <a:xfrm>
            <a:off x="850392" y="2057400"/>
            <a:ext cx="914400" cy="310896"/>
          </a:xfrm>
          <a:prstGeom prst="roundRect">
            <a:avLst>
              <a:gd name="adj" fmla="val 23529"/>
            </a:avLst>
          </a:prstGeom>
          <a:solidFill>
            <a:srgbClr val="DDEFEF"/>
          </a:solidFill>
          <a:ln w="12700">
            <a:solidFill>
              <a:srgbClr val="DDEFEF"/>
            </a:solidFill>
            <a:prstDash val="solid"/>
          </a:ln>
        </p:spPr>
      </p:sp>
      <p:sp>
        <p:nvSpPr>
          <p:cNvPr id="7" name="Text 5"/>
          <p:cNvSpPr/>
          <p:nvPr/>
        </p:nvSpPr>
        <p:spPr>
          <a:xfrm>
            <a:off x="923544" y="2121408"/>
            <a:ext cx="768096" cy="146304"/>
          </a:xfrm>
          <a:prstGeom prst="rect">
            <a:avLst/>
          </a:prstGeom>
          <a:noFill/>
          <a:ln/>
        </p:spPr>
        <p:txBody>
          <a:bodyPr wrap="square" lIns="0" tIns="0" rIns="0" bIns="0" rtlCol="0" anchor="ctr"/>
          <a:lstStyle/>
          <a:p>
            <a:pPr algn="ctr" indent="0" marL="0">
              <a:buNone/>
            </a:pPr>
            <a:r>
              <a:rPr lang="en-US" sz="850" b="1" dirty="0">
                <a:solidFill>
                  <a:srgbClr val="1B6B73"/>
                </a:solidFill>
              </a:rPr>
              <a:t>Priority 1</a:t>
            </a:r>
            <a:endParaRPr lang="en-US" sz="850" dirty="0"/>
          </a:p>
        </p:txBody>
      </p:sp>
      <p:sp>
        <p:nvSpPr>
          <p:cNvPr id="8" name="Text 6"/>
          <p:cNvSpPr/>
          <p:nvPr/>
        </p:nvSpPr>
        <p:spPr>
          <a:xfrm>
            <a:off x="850392" y="2487168"/>
            <a:ext cx="2011680" cy="457200"/>
          </a:xfrm>
          <a:prstGeom prst="rect">
            <a:avLst/>
          </a:prstGeom>
          <a:noFill/>
          <a:ln/>
        </p:spPr>
        <p:txBody>
          <a:bodyPr wrap="square" lIns="0" tIns="0" rIns="0" bIns="0" rtlCol="0" anchor="ctr"/>
          <a:lstStyle/>
          <a:p>
            <a:pPr indent="0" marL="0">
              <a:buNone/>
            </a:pPr>
            <a:r>
              <a:rPr lang="en-US" sz="2200" b="1" dirty="0">
                <a:solidFill>
                  <a:srgbClr val="17324D"/>
                </a:solidFill>
              </a:rPr>
              <a:t>US</a:t>
            </a:r>
            <a:endParaRPr lang="en-US" sz="2200" dirty="0"/>
          </a:p>
        </p:txBody>
      </p:sp>
      <p:sp>
        <p:nvSpPr>
          <p:cNvPr id="9" name="Text 7"/>
          <p:cNvSpPr/>
          <p:nvPr/>
        </p:nvSpPr>
        <p:spPr>
          <a:xfrm>
            <a:off x="850392" y="3063240"/>
            <a:ext cx="2103120" cy="384048"/>
          </a:xfrm>
          <a:prstGeom prst="rect">
            <a:avLst/>
          </a:prstGeom>
          <a:noFill/>
          <a:ln/>
        </p:spPr>
        <p:txBody>
          <a:bodyPr wrap="square" lIns="0" tIns="0" rIns="0" bIns="0" rtlCol="0" anchor="ctr"/>
          <a:lstStyle/>
          <a:p>
            <a:pPr indent="0" marL="0">
              <a:buNone/>
            </a:pPr>
            <a:r>
              <a:rPr lang="en-US" sz="1000" b="1" dirty="0">
                <a:solidFill>
                  <a:srgbClr val="1B6B73"/>
                </a:solidFill>
              </a:rPr>
              <a:t>All four engines</a:t>
            </a:r>
            <a:endParaRPr lang="en-US" sz="1000" dirty="0"/>
          </a:p>
        </p:txBody>
      </p:sp>
      <p:sp>
        <p:nvSpPr>
          <p:cNvPr id="10" name="Text 8"/>
          <p:cNvSpPr/>
          <p:nvPr/>
        </p:nvSpPr>
        <p:spPr>
          <a:xfrm>
            <a:off x="850392" y="3685032"/>
            <a:ext cx="2103120" cy="868680"/>
          </a:xfrm>
          <a:prstGeom prst="rect">
            <a:avLst/>
          </a:prstGeom>
          <a:noFill/>
          <a:ln/>
        </p:spPr>
        <p:txBody>
          <a:bodyPr wrap="square" lIns="0" tIns="0" rIns="0" bIns="0" rtlCol="0" anchor="ctr">
            <a:normAutofit/>
          </a:bodyPr>
          <a:lstStyle/>
          <a:p>
            <a:pPr indent="0" marL="0">
              <a:buNone/>
            </a:pPr>
            <a:r>
              <a:rPr lang="en-US" sz="1000" dirty="0">
                <a:solidFill>
                  <a:srgbClr val="222222"/>
                </a:solidFill>
              </a:rPr>
              <a:t>Large opportunity pool. High competition. Proof-heavy buying.</a:t>
            </a:r>
            <a:endParaRPr lang="en-US" sz="1000" dirty="0"/>
          </a:p>
        </p:txBody>
      </p:sp>
      <p:sp>
        <p:nvSpPr>
          <p:cNvPr id="11" name="Shape 9"/>
          <p:cNvSpPr/>
          <p:nvPr/>
        </p:nvSpPr>
        <p:spPr>
          <a:xfrm>
            <a:off x="3474720" y="1874520"/>
            <a:ext cx="2514600" cy="2971800"/>
          </a:xfrm>
          <a:prstGeom prst="roundRect">
            <a:avLst>
              <a:gd name="adj" fmla="val 2909"/>
            </a:avLst>
          </a:prstGeom>
          <a:solidFill>
            <a:srgbClr val="FFFFFF"/>
          </a:solidFill>
          <a:ln w="12700">
            <a:solidFill>
              <a:srgbClr val="D8E0E5"/>
            </a:solidFill>
            <a:prstDash val="solid"/>
          </a:ln>
        </p:spPr>
      </p:sp>
      <p:sp>
        <p:nvSpPr>
          <p:cNvPr id="12" name="Shape 10"/>
          <p:cNvSpPr/>
          <p:nvPr/>
        </p:nvSpPr>
        <p:spPr>
          <a:xfrm>
            <a:off x="3639312" y="2057400"/>
            <a:ext cx="914400" cy="310896"/>
          </a:xfrm>
          <a:prstGeom prst="roundRect">
            <a:avLst>
              <a:gd name="adj" fmla="val 23529"/>
            </a:avLst>
          </a:prstGeom>
          <a:solidFill>
            <a:srgbClr val="DDEFEF"/>
          </a:solidFill>
          <a:ln w="12700">
            <a:solidFill>
              <a:srgbClr val="DDEFEF"/>
            </a:solidFill>
            <a:prstDash val="solid"/>
          </a:ln>
        </p:spPr>
      </p:sp>
      <p:sp>
        <p:nvSpPr>
          <p:cNvPr id="13" name="Text 11"/>
          <p:cNvSpPr/>
          <p:nvPr/>
        </p:nvSpPr>
        <p:spPr>
          <a:xfrm>
            <a:off x="3712464" y="2121408"/>
            <a:ext cx="768096" cy="146304"/>
          </a:xfrm>
          <a:prstGeom prst="rect">
            <a:avLst/>
          </a:prstGeom>
          <a:noFill/>
          <a:ln/>
        </p:spPr>
        <p:txBody>
          <a:bodyPr wrap="square" lIns="0" tIns="0" rIns="0" bIns="0" rtlCol="0" anchor="ctr"/>
          <a:lstStyle/>
          <a:p>
            <a:pPr algn="ctr" indent="0" marL="0">
              <a:buNone/>
            </a:pPr>
            <a:r>
              <a:rPr lang="en-US" sz="850" b="1" dirty="0">
                <a:solidFill>
                  <a:srgbClr val="1B6B73"/>
                </a:solidFill>
              </a:rPr>
              <a:t>Priority 1</a:t>
            </a:r>
            <a:endParaRPr lang="en-US" sz="850" dirty="0"/>
          </a:p>
        </p:txBody>
      </p:sp>
      <p:sp>
        <p:nvSpPr>
          <p:cNvPr id="14" name="Text 12"/>
          <p:cNvSpPr/>
          <p:nvPr/>
        </p:nvSpPr>
        <p:spPr>
          <a:xfrm>
            <a:off x="3639312" y="2487168"/>
            <a:ext cx="2011680" cy="457200"/>
          </a:xfrm>
          <a:prstGeom prst="rect">
            <a:avLst/>
          </a:prstGeom>
          <a:noFill/>
          <a:ln/>
        </p:spPr>
        <p:txBody>
          <a:bodyPr wrap="square" lIns="0" tIns="0" rIns="0" bIns="0" rtlCol="0" anchor="ctr"/>
          <a:lstStyle/>
          <a:p>
            <a:pPr indent="0" marL="0">
              <a:buNone/>
            </a:pPr>
            <a:r>
              <a:rPr lang="en-US" sz="2200" b="1" dirty="0">
                <a:solidFill>
                  <a:srgbClr val="17324D"/>
                </a:solidFill>
              </a:rPr>
              <a:t>UAE</a:t>
            </a:r>
            <a:endParaRPr lang="en-US" sz="2200" dirty="0"/>
          </a:p>
        </p:txBody>
      </p:sp>
      <p:sp>
        <p:nvSpPr>
          <p:cNvPr id="15" name="Text 13"/>
          <p:cNvSpPr/>
          <p:nvPr/>
        </p:nvSpPr>
        <p:spPr>
          <a:xfrm>
            <a:off x="3639312" y="3063240"/>
            <a:ext cx="2103120" cy="384048"/>
          </a:xfrm>
          <a:prstGeom prst="rect">
            <a:avLst/>
          </a:prstGeom>
          <a:noFill/>
          <a:ln/>
        </p:spPr>
        <p:txBody>
          <a:bodyPr wrap="square" lIns="0" tIns="0" rIns="0" bIns="0" rtlCol="0" anchor="ctr"/>
          <a:lstStyle/>
          <a:p>
            <a:pPr indent="0" marL="0">
              <a:buNone/>
            </a:pPr>
            <a:r>
              <a:rPr lang="en-US" sz="1000" b="1" dirty="0">
                <a:solidFill>
                  <a:srgbClr val="1B6B73"/>
                </a:solidFill>
              </a:rPr>
              <a:t>All four engines</a:t>
            </a:r>
            <a:endParaRPr lang="en-US" sz="1000" dirty="0"/>
          </a:p>
        </p:txBody>
      </p:sp>
      <p:sp>
        <p:nvSpPr>
          <p:cNvPr id="16" name="Text 14"/>
          <p:cNvSpPr/>
          <p:nvPr/>
        </p:nvSpPr>
        <p:spPr>
          <a:xfrm>
            <a:off x="3639312" y="3685032"/>
            <a:ext cx="2103120" cy="868680"/>
          </a:xfrm>
          <a:prstGeom prst="rect">
            <a:avLst/>
          </a:prstGeom>
          <a:noFill/>
          <a:ln/>
        </p:spPr>
        <p:txBody>
          <a:bodyPr wrap="square" lIns="0" tIns="0" rIns="0" bIns="0" rtlCol="0" anchor="ctr">
            <a:normAutofit/>
          </a:bodyPr>
          <a:lstStyle/>
          <a:p>
            <a:pPr indent="0" marL="0">
              <a:buNone/>
            </a:pPr>
            <a:r>
              <a:rPr lang="en-US" sz="1000" dirty="0">
                <a:solidFill>
                  <a:srgbClr val="222222"/>
                </a:solidFill>
              </a:rPr>
              <a:t>Relationship-led regulated enterprise market. Strong healthcare, AI/cloud and financial-services intensity.</a:t>
            </a:r>
            <a:endParaRPr lang="en-US" sz="1000" dirty="0"/>
          </a:p>
        </p:txBody>
      </p:sp>
      <p:sp>
        <p:nvSpPr>
          <p:cNvPr id="17" name="Shape 15"/>
          <p:cNvSpPr/>
          <p:nvPr/>
        </p:nvSpPr>
        <p:spPr>
          <a:xfrm>
            <a:off x="6263640" y="1874520"/>
            <a:ext cx="2514600" cy="2971800"/>
          </a:xfrm>
          <a:prstGeom prst="roundRect">
            <a:avLst>
              <a:gd name="adj" fmla="val 2909"/>
            </a:avLst>
          </a:prstGeom>
          <a:solidFill>
            <a:srgbClr val="FFFFFF"/>
          </a:solidFill>
          <a:ln w="12700">
            <a:solidFill>
              <a:srgbClr val="D8E0E5"/>
            </a:solidFill>
            <a:prstDash val="solid"/>
          </a:ln>
        </p:spPr>
      </p:sp>
      <p:sp>
        <p:nvSpPr>
          <p:cNvPr id="18" name="Shape 16"/>
          <p:cNvSpPr/>
          <p:nvPr/>
        </p:nvSpPr>
        <p:spPr>
          <a:xfrm>
            <a:off x="6428232" y="2057400"/>
            <a:ext cx="914400" cy="310896"/>
          </a:xfrm>
          <a:prstGeom prst="roundRect">
            <a:avLst>
              <a:gd name="adj" fmla="val 23529"/>
            </a:avLst>
          </a:prstGeom>
          <a:solidFill>
            <a:srgbClr val="EEF1F3"/>
          </a:solidFill>
          <a:ln w="12700">
            <a:solidFill>
              <a:srgbClr val="EEF1F3"/>
            </a:solidFill>
            <a:prstDash val="solid"/>
          </a:ln>
        </p:spPr>
      </p:sp>
      <p:sp>
        <p:nvSpPr>
          <p:cNvPr id="19" name="Text 17"/>
          <p:cNvSpPr/>
          <p:nvPr/>
        </p:nvSpPr>
        <p:spPr>
          <a:xfrm>
            <a:off x="6501384" y="2121408"/>
            <a:ext cx="768096" cy="146304"/>
          </a:xfrm>
          <a:prstGeom prst="rect">
            <a:avLst/>
          </a:prstGeom>
          <a:noFill/>
          <a:ln/>
        </p:spPr>
        <p:txBody>
          <a:bodyPr wrap="square" lIns="0" tIns="0" rIns="0" bIns="0" rtlCol="0" anchor="ctr"/>
          <a:lstStyle/>
          <a:p>
            <a:pPr algn="ctr" indent="0" marL="0">
              <a:buNone/>
            </a:pPr>
            <a:r>
              <a:rPr lang="en-US" sz="850" b="1" dirty="0">
                <a:solidFill>
                  <a:srgbClr val="44546A"/>
                </a:solidFill>
              </a:rPr>
              <a:t>Priority 2</a:t>
            </a:r>
            <a:endParaRPr lang="en-US" sz="850" dirty="0"/>
          </a:p>
        </p:txBody>
      </p:sp>
      <p:sp>
        <p:nvSpPr>
          <p:cNvPr id="20" name="Text 18"/>
          <p:cNvSpPr/>
          <p:nvPr/>
        </p:nvSpPr>
        <p:spPr>
          <a:xfrm>
            <a:off x="6428232" y="2487168"/>
            <a:ext cx="2011680" cy="457200"/>
          </a:xfrm>
          <a:prstGeom prst="rect">
            <a:avLst/>
          </a:prstGeom>
          <a:noFill/>
          <a:ln/>
        </p:spPr>
        <p:txBody>
          <a:bodyPr wrap="square" lIns="0" tIns="0" rIns="0" bIns="0" rtlCol="0" anchor="ctr"/>
          <a:lstStyle/>
          <a:p>
            <a:pPr indent="0" marL="0">
              <a:buNone/>
            </a:pPr>
            <a:r>
              <a:rPr lang="en-US" sz="2200" b="1" dirty="0">
                <a:solidFill>
                  <a:srgbClr val="17324D"/>
                </a:solidFill>
              </a:rPr>
              <a:t>UK</a:t>
            </a:r>
            <a:endParaRPr lang="en-US" sz="2200" dirty="0"/>
          </a:p>
        </p:txBody>
      </p:sp>
      <p:sp>
        <p:nvSpPr>
          <p:cNvPr id="21" name="Text 19"/>
          <p:cNvSpPr/>
          <p:nvPr/>
        </p:nvSpPr>
        <p:spPr>
          <a:xfrm>
            <a:off x="6428232" y="3063240"/>
            <a:ext cx="2103120" cy="384048"/>
          </a:xfrm>
          <a:prstGeom prst="rect">
            <a:avLst/>
          </a:prstGeom>
          <a:noFill/>
          <a:ln/>
        </p:spPr>
        <p:txBody>
          <a:bodyPr wrap="square" lIns="0" tIns="0" rIns="0" bIns="0" rtlCol="0" anchor="ctr"/>
          <a:lstStyle/>
          <a:p>
            <a:pPr indent="0" marL="0">
              <a:buNone/>
            </a:pPr>
            <a:r>
              <a:rPr lang="en-US" sz="1000" b="1" dirty="0">
                <a:solidFill>
                  <a:srgbClr val="1B6B73"/>
                </a:solidFill>
              </a:rPr>
              <a:t>Regure + Engineering + selected clinIQ</a:t>
            </a:r>
            <a:endParaRPr lang="en-US" sz="1000" dirty="0"/>
          </a:p>
        </p:txBody>
      </p:sp>
      <p:sp>
        <p:nvSpPr>
          <p:cNvPr id="22" name="Text 20"/>
          <p:cNvSpPr/>
          <p:nvPr/>
        </p:nvSpPr>
        <p:spPr>
          <a:xfrm>
            <a:off x="6428232" y="3685032"/>
            <a:ext cx="2103120" cy="868680"/>
          </a:xfrm>
          <a:prstGeom prst="rect">
            <a:avLst/>
          </a:prstGeom>
          <a:noFill/>
          <a:ln/>
        </p:spPr>
        <p:txBody>
          <a:bodyPr wrap="square" lIns="0" tIns="0" rIns="0" bIns="0" rtlCol="0" anchor="ctr">
            <a:normAutofit/>
          </a:bodyPr>
          <a:lstStyle/>
          <a:p>
            <a:pPr indent="0" marL="0">
              <a:buNone/>
            </a:pPr>
            <a:r>
              <a:rPr lang="en-US" sz="1000" dirty="0">
                <a:solidFill>
                  <a:srgbClr val="222222"/>
                </a:solidFill>
              </a:rPr>
              <a:t>Strong insurance, regulated services and healthcare fit.</a:t>
            </a:r>
            <a:endParaRPr lang="en-US" sz="1000" dirty="0"/>
          </a:p>
        </p:txBody>
      </p:sp>
      <p:sp>
        <p:nvSpPr>
          <p:cNvPr id="23" name="Shape 21"/>
          <p:cNvSpPr/>
          <p:nvPr/>
        </p:nvSpPr>
        <p:spPr>
          <a:xfrm>
            <a:off x="9052560" y="1874520"/>
            <a:ext cx="2514600" cy="2971800"/>
          </a:xfrm>
          <a:prstGeom prst="roundRect">
            <a:avLst>
              <a:gd name="adj" fmla="val 2909"/>
            </a:avLst>
          </a:prstGeom>
          <a:solidFill>
            <a:srgbClr val="FFFFFF"/>
          </a:solidFill>
          <a:ln w="12700">
            <a:solidFill>
              <a:srgbClr val="D8E0E5"/>
            </a:solidFill>
            <a:prstDash val="solid"/>
          </a:ln>
        </p:spPr>
      </p:sp>
      <p:sp>
        <p:nvSpPr>
          <p:cNvPr id="24" name="Shape 22"/>
          <p:cNvSpPr/>
          <p:nvPr/>
        </p:nvSpPr>
        <p:spPr>
          <a:xfrm>
            <a:off x="9217152" y="2057400"/>
            <a:ext cx="914400" cy="310896"/>
          </a:xfrm>
          <a:prstGeom prst="roundRect">
            <a:avLst>
              <a:gd name="adj" fmla="val 23529"/>
            </a:avLst>
          </a:prstGeom>
          <a:solidFill>
            <a:srgbClr val="EEF1F3"/>
          </a:solidFill>
          <a:ln w="12700">
            <a:solidFill>
              <a:srgbClr val="EEF1F3"/>
            </a:solidFill>
            <a:prstDash val="solid"/>
          </a:ln>
        </p:spPr>
      </p:sp>
      <p:sp>
        <p:nvSpPr>
          <p:cNvPr id="25" name="Text 23"/>
          <p:cNvSpPr/>
          <p:nvPr/>
        </p:nvSpPr>
        <p:spPr>
          <a:xfrm>
            <a:off x="9290304" y="2121408"/>
            <a:ext cx="768096" cy="146304"/>
          </a:xfrm>
          <a:prstGeom prst="rect">
            <a:avLst/>
          </a:prstGeom>
          <a:noFill/>
          <a:ln/>
        </p:spPr>
        <p:txBody>
          <a:bodyPr wrap="square" lIns="0" tIns="0" rIns="0" bIns="0" rtlCol="0" anchor="ctr"/>
          <a:lstStyle/>
          <a:p>
            <a:pPr algn="ctr" indent="0" marL="0">
              <a:buNone/>
            </a:pPr>
            <a:r>
              <a:rPr lang="en-US" sz="850" b="1" dirty="0">
                <a:solidFill>
                  <a:srgbClr val="44546A"/>
                </a:solidFill>
              </a:rPr>
              <a:t>Priority 2</a:t>
            </a:r>
            <a:endParaRPr lang="en-US" sz="850" dirty="0"/>
          </a:p>
        </p:txBody>
      </p:sp>
      <p:sp>
        <p:nvSpPr>
          <p:cNvPr id="26" name="Text 24"/>
          <p:cNvSpPr/>
          <p:nvPr/>
        </p:nvSpPr>
        <p:spPr>
          <a:xfrm>
            <a:off x="9217152" y="2487168"/>
            <a:ext cx="2011680" cy="457200"/>
          </a:xfrm>
          <a:prstGeom prst="rect">
            <a:avLst/>
          </a:prstGeom>
          <a:noFill/>
          <a:ln/>
        </p:spPr>
        <p:txBody>
          <a:bodyPr wrap="square" lIns="0" tIns="0" rIns="0" bIns="0" rtlCol="0" anchor="ctr"/>
          <a:lstStyle/>
          <a:p>
            <a:pPr indent="0" marL="0">
              <a:buNone/>
            </a:pPr>
            <a:r>
              <a:rPr lang="en-US" sz="2200" b="1" dirty="0">
                <a:solidFill>
                  <a:srgbClr val="17324D"/>
                </a:solidFill>
              </a:rPr>
              <a:t>India</a:t>
            </a:r>
            <a:endParaRPr lang="en-US" sz="2200" dirty="0"/>
          </a:p>
        </p:txBody>
      </p:sp>
      <p:sp>
        <p:nvSpPr>
          <p:cNvPr id="27" name="Text 25"/>
          <p:cNvSpPr/>
          <p:nvPr/>
        </p:nvSpPr>
        <p:spPr>
          <a:xfrm>
            <a:off x="9217152" y="3063240"/>
            <a:ext cx="2103120" cy="384048"/>
          </a:xfrm>
          <a:prstGeom prst="rect">
            <a:avLst/>
          </a:prstGeom>
          <a:noFill/>
          <a:ln/>
        </p:spPr>
        <p:txBody>
          <a:bodyPr wrap="square" lIns="0" tIns="0" rIns="0" bIns="0" rtlCol="0" anchor="ctr"/>
          <a:lstStyle/>
          <a:p>
            <a:pPr indent="0" marL="0">
              <a:buNone/>
            </a:pPr>
            <a:r>
              <a:rPr lang="en-US" sz="1000" b="1" dirty="0">
                <a:solidFill>
                  <a:srgbClr val="1B6B73"/>
                </a:solidFill>
              </a:rPr>
              <a:t>Engineering + SentienGuard + selected Regure</a:t>
            </a:r>
            <a:endParaRPr lang="en-US" sz="1000" dirty="0"/>
          </a:p>
        </p:txBody>
      </p:sp>
      <p:sp>
        <p:nvSpPr>
          <p:cNvPr id="28" name="Text 26"/>
          <p:cNvSpPr/>
          <p:nvPr/>
        </p:nvSpPr>
        <p:spPr>
          <a:xfrm>
            <a:off x="9217152" y="3685032"/>
            <a:ext cx="2103120" cy="868680"/>
          </a:xfrm>
          <a:prstGeom prst="rect">
            <a:avLst/>
          </a:prstGeom>
          <a:noFill/>
          <a:ln/>
        </p:spPr>
        <p:txBody>
          <a:bodyPr wrap="square" lIns="0" tIns="0" rIns="0" bIns="0" rtlCol="0" anchor="ctr">
            <a:normAutofit/>
          </a:bodyPr>
          <a:lstStyle/>
          <a:p>
            <a:pPr indent="0" marL="0">
              <a:buNone/>
            </a:pPr>
            <a:r>
              <a:rPr lang="en-US" sz="1000" dirty="0">
                <a:solidFill>
                  <a:srgbClr val="222222"/>
                </a:solidFill>
              </a:rPr>
              <a:t>Selective enterprise, GCC and technology motion. clinIQ excluded.</a:t>
            </a:r>
            <a:endParaRPr lang="en-US" sz="1000" dirty="0"/>
          </a:p>
        </p:txBody>
      </p:sp>
      <p:sp>
        <p:nvSpPr>
          <p:cNvPr id="29" name="Text 27"/>
          <p:cNvSpPr/>
          <p:nvPr/>
        </p:nvSpPr>
        <p:spPr>
          <a:xfrm>
            <a:off x="914400" y="5440680"/>
            <a:ext cx="10241280" cy="457200"/>
          </a:xfrm>
          <a:prstGeom prst="rect">
            <a:avLst/>
          </a:prstGeom>
          <a:noFill/>
          <a:ln/>
        </p:spPr>
        <p:txBody>
          <a:bodyPr wrap="square" lIns="0" tIns="0" rIns="0" bIns="0" rtlCol="0" anchor="ctr"/>
          <a:lstStyle/>
          <a:p>
            <a:pPr algn="ctr" indent="0" marL="0">
              <a:buNone/>
            </a:pPr>
            <a:r>
              <a:rPr lang="en-US" sz="1500" b="1" dirty="0">
                <a:solidFill>
                  <a:srgbClr val="17324D"/>
                </a:solidFill>
              </a:rPr>
              <a:t>Market size tells us where to investigate. A verified trigger tells us where to spend selling time.</a:t>
            </a:r>
            <a:endParaRPr lang="en-US" sz="150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04 | HOW I FIND REVENUE</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No trigger, no Tier A</a:t>
            </a:r>
            <a:endParaRPr lang="en-US" sz="2500" dirty="0"/>
          </a:p>
        </p:txBody>
      </p:sp>
      <p:sp>
        <p:nvSpPr>
          <p:cNvPr id="4" name="Shape 2"/>
          <p:cNvSpPr/>
          <p:nvPr/>
        </p:nvSpPr>
        <p:spPr>
          <a:xfrm>
            <a:off x="658368" y="1965960"/>
            <a:ext cx="1600200" cy="713232"/>
          </a:xfrm>
          <a:prstGeom prst="roundRect">
            <a:avLst>
              <a:gd name="adj" fmla="val 10256"/>
            </a:avLst>
          </a:prstGeom>
          <a:solidFill>
            <a:srgbClr val="FFFFFF"/>
          </a:solidFill>
          <a:ln w="12700">
            <a:solidFill>
              <a:srgbClr val="D8E0E5"/>
            </a:solidFill>
            <a:prstDash val="solid"/>
          </a:ln>
        </p:spPr>
      </p:sp>
      <p:sp>
        <p:nvSpPr>
          <p:cNvPr id="5" name="Text 3"/>
          <p:cNvSpPr/>
          <p:nvPr/>
        </p:nvSpPr>
        <p:spPr>
          <a:xfrm>
            <a:off x="768096" y="2221992"/>
            <a:ext cx="1389888" cy="182880"/>
          </a:xfrm>
          <a:prstGeom prst="rect">
            <a:avLst/>
          </a:prstGeom>
          <a:noFill/>
          <a:ln/>
        </p:spPr>
        <p:txBody>
          <a:bodyPr wrap="square" lIns="0" tIns="0" rIns="0" bIns="0" rtlCol="0" anchor="ctr"/>
          <a:lstStyle/>
          <a:p>
            <a:pPr algn="ctr" indent="0" marL="0">
              <a:buNone/>
            </a:pPr>
            <a:r>
              <a:rPr lang="en-US" sz="870" b="1" dirty="0">
                <a:solidFill>
                  <a:srgbClr val="17324D"/>
                </a:solidFill>
              </a:rPr>
              <a:t>ICP</a:t>
            </a:r>
            <a:endParaRPr lang="en-US" sz="870" dirty="0"/>
          </a:p>
        </p:txBody>
      </p:sp>
      <p:sp>
        <p:nvSpPr>
          <p:cNvPr id="6" name="Shape 4"/>
          <p:cNvSpPr/>
          <p:nvPr/>
        </p:nvSpPr>
        <p:spPr>
          <a:xfrm>
            <a:off x="2276856" y="2322576"/>
            <a:ext cx="228600" cy="0"/>
          </a:xfrm>
          <a:prstGeom prst="line">
            <a:avLst/>
          </a:prstGeom>
          <a:noFill/>
          <a:ln w="22860">
            <a:solidFill>
              <a:srgbClr val="1B6B73"/>
            </a:solidFill>
            <a:prstDash val="solid"/>
            <a:headEnd type="none"/>
            <a:tailEnd type="triangle"/>
          </a:ln>
        </p:spPr>
      </p:sp>
      <p:sp>
        <p:nvSpPr>
          <p:cNvPr id="7" name="Shape 5"/>
          <p:cNvSpPr/>
          <p:nvPr/>
        </p:nvSpPr>
        <p:spPr>
          <a:xfrm>
            <a:off x="2532888" y="1965960"/>
            <a:ext cx="1600200" cy="713232"/>
          </a:xfrm>
          <a:prstGeom prst="roundRect">
            <a:avLst>
              <a:gd name="adj" fmla="val 10256"/>
            </a:avLst>
          </a:prstGeom>
          <a:solidFill>
            <a:srgbClr val="DDEFEF"/>
          </a:solidFill>
          <a:ln w="12700">
            <a:solidFill>
              <a:srgbClr val="D8E0E5"/>
            </a:solidFill>
            <a:prstDash val="solid"/>
          </a:ln>
        </p:spPr>
      </p:sp>
      <p:sp>
        <p:nvSpPr>
          <p:cNvPr id="8" name="Text 6"/>
          <p:cNvSpPr/>
          <p:nvPr/>
        </p:nvSpPr>
        <p:spPr>
          <a:xfrm>
            <a:off x="2642616" y="2221992"/>
            <a:ext cx="1389888" cy="182880"/>
          </a:xfrm>
          <a:prstGeom prst="rect">
            <a:avLst/>
          </a:prstGeom>
          <a:noFill/>
          <a:ln/>
        </p:spPr>
        <p:txBody>
          <a:bodyPr wrap="square" lIns="0" tIns="0" rIns="0" bIns="0" rtlCol="0" anchor="ctr"/>
          <a:lstStyle/>
          <a:p>
            <a:pPr algn="ctr" indent="0" marL="0">
              <a:buNone/>
            </a:pPr>
            <a:r>
              <a:rPr lang="en-US" sz="870" b="1" dirty="0">
                <a:solidFill>
                  <a:srgbClr val="1B6B73"/>
                </a:solidFill>
              </a:rPr>
              <a:t>VERIFIED TRIGGER</a:t>
            </a:r>
            <a:endParaRPr lang="en-US" sz="870" dirty="0"/>
          </a:p>
        </p:txBody>
      </p:sp>
      <p:sp>
        <p:nvSpPr>
          <p:cNvPr id="9" name="Shape 7"/>
          <p:cNvSpPr/>
          <p:nvPr/>
        </p:nvSpPr>
        <p:spPr>
          <a:xfrm>
            <a:off x="4151376" y="2322576"/>
            <a:ext cx="228600" cy="0"/>
          </a:xfrm>
          <a:prstGeom prst="line">
            <a:avLst/>
          </a:prstGeom>
          <a:noFill/>
          <a:ln w="22860">
            <a:solidFill>
              <a:srgbClr val="1B6B73"/>
            </a:solidFill>
            <a:prstDash val="solid"/>
            <a:headEnd type="none"/>
            <a:tailEnd type="triangle"/>
          </a:ln>
        </p:spPr>
      </p:sp>
      <p:sp>
        <p:nvSpPr>
          <p:cNvPr id="10" name="Shape 8"/>
          <p:cNvSpPr/>
          <p:nvPr/>
        </p:nvSpPr>
        <p:spPr>
          <a:xfrm>
            <a:off x="4407408" y="1965960"/>
            <a:ext cx="1600200" cy="713232"/>
          </a:xfrm>
          <a:prstGeom prst="roundRect">
            <a:avLst>
              <a:gd name="adj" fmla="val 10256"/>
            </a:avLst>
          </a:prstGeom>
          <a:solidFill>
            <a:srgbClr val="FFFFFF"/>
          </a:solidFill>
          <a:ln w="12700">
            <a:solidFill>
              <a:srgbClr val="D8E0E5"/>
            </a:solidFill>
            <a:prstDash val="solid"/>
          </a:ln>
        </p:spPr>
      </p:sp>
      <p:sp>
        <p:nvSpPr>
          <p:cNvPr id="11" name="Text 9"/>
          <p:cNvSpPr/>
          <p:nvPr/>
        </p:nvSpPr>
        <p:spPr>
          <a:xfrm>
            <a:off x="4517136" y="2221992"/>
            <a:ext cx="1389888" cy="182880"/>
          </a:xfrm>
          <a:prstGeom prst="rect">
            <a:avLst/>
          </a:prstGeom>
          <a:noFill/>
          <a:ln/>
        </p:spPr>
        <p:txBody>
          <a:bodyPr wrap="square" lIns="0" tIns="0" rIns="0" bIns="0" rtlCol="0" anchor="ctr"/>
          <a:lstStyle/>
          <a:p>
            <a:pPr algn="ctr" indent="0" marL="0">
              <a:buNone/>
            </a:pPr>
            <a:r>
              <a:rPr lang="en-US" sz="870" b="1" dirty="0">
                <a:solidFill>
                  <a:srgbClr val="17324D"/>
                </a:solidFill>
              </a:rPr>
              <a:t>ACCOUNT INTELLIGENCE</a:t>
            </a:r>
            <a:endParaRPr lang="en-US" sz="870" dirty="0"/>
          </a:p>
        </p:txBody>
      </p:sp>
      <p:sp>
        <p:nvSpPr>
          <p:cNvPr id="12" name="Shape 10"/>
          <p:cNvSpPr/>
          <p:nvPr/>
        </p:nvSpPr>
        <p:spPr>
          <a:xfrm>
            <a:off x="6025896" y="2322576"/>
            <a:ext cx="228600" cy="0"/>
          </a:xfrm>
          <a:prstGeom prst="line">
            <a:avLst/>
          </a:prstGeom>
          <a:noFill/>
          <a:ln w="22860">
            <a:solidFill>
              <a:srgbClr val="1B6B73"/>
            </a:solidFill>
            <a:prstDash val="solid"/>
            <a:headEnd type="none"/>
            <a:tailEnd type="triangle"/>
          </a:ln>
        </p:spPr>
      </p:sp>
      <p:sp>
        <p:nvSpPr>
          <p:cNvPr id="13" name="Shape 11"/>
          <p:cNvSpPr/>
          <p:nvPr/>
        </p:nvSpPr>
        <p:spPr>
          <a:xfrm>
            <a:off x="6281928" y="1965960"/>
            <a:ext cx="1600200" cy="713232"/>
          </a:xfrm>
          <a:prstGeom prst="roundRect">
            <a:avLst>
              <a:gd name="adj" fmla="val 10256"/>
            </a:avLst>
          </a:prstGeom>
          <a:solidFill>
            <a:srgbClr val="FFFFFF"/>
          </a:solidFill>
          <a:ln w="12700">
            <a:solidFill>
              <a:srgbClr val="D8E0E5"/>
            </a:solidFill>
            <a:prstDash val="solid"/>
          </a:ln>
        </p:spPr>
      </p:sp>
      <p:sp>
        <p:nvSpPr>
          <p:cNvPr id="14" name="Text 12"/>
          <p:cNvSpPr/>
          <p:nvPr/>
        </p:nvSpPr>
        <p:spPr>
          <a:xfrm>
            <a:off x="6391656" y="2221992"/>
            <a:ext cx="1389888" cy="182880"/>
          </a:xfrm>
          <a:prstGeom prst="rect">
            <a:avLst/>
          </a:prstGeom>
          <a:noFill/>
          <a:ln/>
        </p:spPr>
        <p:txBody>
          <a:bodyPr wrap="square" lIns="0" tIns="0" rIns="0" bIns="0" rtlCol="0" anchor="ctr"/>
          <a:lstStyle/>
          <a:p>
            <a:pPr algn="ctr" indent="0" marL="0">
              <a:buNone/>
            </a:pPr>
            <a:r>
              <a:rPr lang="en-US" sz="870" b="1" dirty="0">
                <a:solidFill>
                  <a:srgbClr val="17324D"/>
                </a:solidFill>
              </a:rPr>
              <a:t>BUYER MAP</a:t>
            </a:r>
            <a:endParaRPr lang="en-US" sz="870" dirty="0"/>
          </a:p>
        </p:txBody>
      </p:sp>
      <p:sp>
        <p:nvSpPr>
          <p:cNvPr id="15" name="Shape 13"/>
          <p:cNvSpPr/>
          <p:nvPr/>
        </p:nvSpPr>
        <p:spPr>
          <a:xfrm>
            <a:off x="7900416" y="2322576"/>
            <a:ext cx="228600" cy="0"/>
          </a:xfrm>
          <a:prstGeom prst="line">
            <a:avLst/>
          </a:prstGeom>
          <a:noFill/>
          <a:ln w="22860">
            <a:solidFill>
              <a:srgbClr val="1B6B73"/>
            </a:solidFill>
            <a:prstDash val="solid"/>
            <a:headEnd type="none"/>
            <a:tailEnd type="triangle"/>
          </a:ln>
        </p:spPr>
      </p:sp>
      <p:sp>
        <p:nvSpPr>
          <p:cNvPr id="16" name="Shape 14"/>
          <p:cNvSpPr/>
          <p:nvPr/>
        </p:nvSpPr>
        <p:spPr>
          <a:xfrm>
            <a:off x="8156448" y="1965960"/>
            <a:ext cx="1600200" cy="713232"/>
          </a:xfrm>
          <a:prstGeom prst="roundRect">
            <a:avLst>
              <a:gd name="adj" fmla="val 10256"/>
            </a:avLst>
          </a:prstGeom>
          <a:solidFill>
            <a:srgbClr val="FFFFFF"/>
          </a:solidFill>
          <a:ln w="12700">
            <a:solidFill>
              <a:srgbClr val="D8E0E5"/>
            </a:solidFill>
            <a:prstDash val="solid"/>
          </a:ln>
        </p:spPr>
      </p:sp>
      <p:sp>
        <p:nvSpPr>
          <p:cNvPr id="17" name="Text 15"/>
          <p:cNvSpPr/>
          <p:nvPr/>
        </p:nvSpPr>
        <p:spPr>
          <a:xfrm>
            <a:off x="8266176" y="2221992"/>
            <a:ext cx="1389888" cy="182880"/>
          </a:xfrm>
          <a:prstGeom prst="rect">
            <a:avLst/>
          </a:prstGeom>
          <a:noFill/>
          <a:ln/>
        </p:spPr>
        <p:txBody>
          <a:bodyPr wrap="square" lIns="0" tIns="0" rIns="0" bIns="0" rtlCol="0" anchor="ctr"/>
          <a:lstStyle/>
          <a:p>
            <a:pPr algn="ctr" indent="0" marL="0">
              <a:buNone/>
            </a:pPr>
            <a:r>
              <a:rPr lang="en-US" sz="870" b="1" dirty="0">
                <a:solidFill>
                  <a:srgbClr val="17324D"/>
                </a:solidFill>
              </a:rPr>
              <a:t>VALUE-FIRST OUTREACH</a:t>
            </a:r>
            <a:endParaRPr lang="en-US" sz="870" dirty="0"/>
          </a:p>
        </p:txBody>
      </p:sp>
      <p:sp>
        <p:nvSpPr>
          <p:cNvPr id="18" name="Shape 16"/>
          <p:cNvSpPr/>
          <p:nvPr/>
        </p:nvSpPr>
        <p:spPr>
          <a:xfrm>
            <a:off x="9774936" y="2322576"/>
            <a:ext cx="228600" cy="0"/>
          </a:xfrm>
          <a:prstGeom prst="line">
            <a:avLst/>
          </a:prstGeom>
          <a:noFill/>
          <a:ln w="22860">
            <a:solidFill>
              <a:srgbClr val="1B6B73"/>
            </a:solidFill>
            <a:prstDash val="solid"/>
            <a:headEnd type="none"/>
            <a:tailEnd type="triangle"/>
          </a:ln>
        </p:spPr>
      </p:sp>
      <p:sp>
        <p:nvSpPr>
          <p:cNvPr id="19" name="Shape 17"/>
          <p:cNvSpPr/>
          <p:nvPr/>
        </p:nvSpPr>
        <p:spPr>
          <a:xfrm>
            <a:off x="10030968" y="1965960"/>
            <a:ext cx="1600200" cy="713232"/>
          </a:xfrm>
          <a:prstGeom prst="roundRect">
            <a:avLst>
              <a:gd name="adj" fmla="val 10256"/>
            </a:avLst>
          </a:prstGeom>
          <a:solidFill>
            <a:srgbClr val="FFFFFF"/>
          </a:solidFill>
          <a:ln w="12700">
            <a:solidFill>
              <a:srgbClr val="D8E0E5"/>
            </a:solidFill>
            <a:prstDash val="solid"/>
          </a:ln>
        </p:spPr>
      </p:sp>
      <p:sp>
        <p:nvSpPr>
          <p:cNvPr id="20" name="Text 18"/>
          <p:cNvSpPr/>
          <p:nvPr/>
        </p:nvSpPr>
        <p:spPr>
          <a:xfrm>
            <a:off x="10140696" y="2221992"/>
            <a:ext cx="1389888" cy="182880"/>
          </a:xfrm>
          <a:prstGeom prst="rect">
            <a:avLst/>
          </a:prstGeom>
          <a:noFill/>
          <a:ln/>
        </p:spPr>
        <p:txBody>
          <a:bodyPr wrap="square" lIns="0" tIns="0" rIns="0" bIns="0" rtlCol="0" anchor="ctr"/>
          <a:lstStyle/>
          <a:p>
            <a:pPr algn="ctr" indent="0" marL="0">
              <a:buNone/>
            </a:pPr>
            <a:r>
              <a:rPr lang="en-US" sz="870" b="1" dirty="0">
                <a:solidFill>
                  <a:srgbClr val="17324D"/>
                </a:solidFill>
              </a:rPr>
              <a:t>DISCOVERY</a:t>
            </a:r>
            <a:endParaRPr lang="en-US" sz="870" dirty="0"/>
          </a:p>
        </p:txBody>
      </p:sp>
      <p:sp>
        <p:nvSpPr>
          <p:cNvPr id="21" name="Text 19"/>
          <p:cNvSpPr/>
          <p:nvPr/>
        </p:nvSpPr>
        <p:spPr>
          <a:xfrm>
            <a:off x="914400" y="3429000"/>
            <a:ext cx="1325880" cy="594360"/>
          </a:xfrm>
          <a:prstGeom prst="rect">
            <a:avLst/>
          </a:prstGeom>
          <a:noFill/>
          <a:ln/>
        </p:spPr>
        <p:txBody>
          <a:bodyPr wrap="square" lIns="0" tIns="0" rIns="0" bIns="0" rtlCol="0" anchor="ctr"/>
          <a:lstStyle/>
          <a:p>
            <a:pPr algn="ctr" indent="0" marL="0">
              <a:buNone/>
            </a:pPr>
            <a:r>
              <a:rPr lang="en-US" sz="2800" b="1" dirty="0">
                <a:solidFill>
                  <a:srgbClr val="17324D"/>
                </a:solidFill>
              </a:rPr>
              <a:t>25</a:t>
            </a:r>
            <a:endParaRPr lang="en-US" sz="2800" dirty="0"/>
          </a:p>
        </p:txBody>
      </p:sp>
      <p:sp>
        <p:nvSpPr>
          <p:cNvPr id="22" name="Text 20"/>
          <p:cNvSpPr/>
          <p:nvPr/>
        </p:nvSpPr>
        <p:spPr>
          <a:xfrm>
            <a:off x="914400" y="4041648"/>
            <a:ext cx="1325880" cy="201168"/>
          </a:xfrm>
          <a:prstGeom prst="rect">
            <a:avLst/>
          </a:prstGeom>
          <a:noFill/>
          <a:ln/>
        </p:spPr>
        <p:txBody>
          <a:bodyPr wrap="square" lIns="0" tIns="0" rIns="0" bIns="0" rtlCol="0" anchor="ctr"/>
          <a:lstStyle/>
          <a:p>
            <a:pPr algn="ctr" indent="0" marL="0">
              <a:buNone/>
            </a:pPr>
            <a:r>
              <a:rPr lang="en-US" sz="850" b="1" dirty="0">
                <a:solidFill>
                  <a:srgbClr val="44546A"/>
                </a:solidFill>
              </a:rPr>
              <a:t>FIT</a:t>
            </a:r>
            <a:endParaRPr lang="en-US" sz="850" dirty="0"/>
          </a:p>
        </p:txBody>
      </p:sp>
      <p:sp>
        <p:nvSpPr>
          <p:cNvPr id="23" name="Text 21"/>
          <p:cNvSpPr/>
          <p:nvPr/>
        </p:nvSpPr>
        <p:spPr>
          <a:xfrm>
            <a:off x="2971800" y="3429000"/>
            <a:ext cx="1325880" cy="594360"/>
          </a:xfrm>
          <a:prstGeom prst="rect">
            <a:avLst/>
          </a:prstGeom>
          <a:noFill/>
          <a:ln/>
        </p:spPr>
        <p:txBody>
          <a:bodyPr wrap="square" lIns="0" tIns="0" rIns="0" bIns="0" rtlCol="0" anchor="ctr"/>
          <a:lstStyle/>
          <a:p>
            <a:pPr algn="ctr" indent="0" marL="0">
              <a:buNone/>
            </a:pPr>
            <a:r>
              <a:rPr lang="en-US" sz="2800" b="1" dirty="0">
                <a:solidFill>
                  <a:srgbClr val="1B6B73"/>
                </a:solidFill>
              </a:rPr>
              <a:t>25</a:t>
            </a:r>
            <a:endParaRPr lang="en-US" sz="2800" dirty="0"/>
          </a:p>
        </p:txBody>
      </p:sp>
      <p:sp>
        <p:nvSpPr>
          <p:cNvPr id="24" name="Text 22"/>
          <p:cNvSpPr/>
          <p:nvPr/>
        </p:nvSpPr>
        <p:spPr>
          <a:xfrm>
            <a:off x="2971800" y="4041648"/>
            <a:ext cx="1325880" cy="201168"/>
          </a:xfrm>
          <a:prstGeom prst="rect">
            <a:avLst/>
          </a:prstGeom>
          <a:noFill/>
          <a:ln/>
        </p:spPr>
        <p:txBody>
          <a:bodyPr wrap="square" lIns="0" tIns="0" rIns="0" bIns="0" rtlCol="0" anchor="ctr"/>
          <a:lstStyle/>
          <a:p>
            <a:pPr algn="ctr" indent="0" marL="0">
              <a:buNone/>
            </a:pPr>
            <a:r>
              <a:rPr lang="en-US" sz="850" b="1" dirty="0">
                <a:solidFill>
                  <a:srgbClr val="44546A"/>
                </a:solidFill>
              </a:rPr>
              <a:t>TRIGGER</a:t>
            </a:r>
            <a:endParaRPr lang="en-US" sz="850" dirty="0"/>
          </a:p>
        </p:txBody>
      </p:sp>
      <p:sp>
        <p:nvSpPr>
          <p:cNvPr id="25" name="Text 23"/>
          <p:cNvSpPr/>
          <p:nvPr/>
        </p:nvSpPr>
        <p:spPr>
          <a:xfrm>
            <a:off x="5029200" y="3429000"/>
            <a:ext cx="1325880" cy="594360"/>
          </a:xfrm>
          <a:prstGeom prst="rect">
            <a:avLst/>
          </a:prstGeom>
          <a:noFill/>
          <a:ln/>
        </p:spPr>
        <p:txBody>
          <a:bodyPr wrap="square" lIns="0" tIns="0" rIns="0" bIns="0" rtlCol="0" anchor="ctr"/>
          <a:lstStyle/>
          <a:p>
            <a:pPr algn="ctr" indent="0" marL="0">
              <a:buNone/>
            </a:pPr>
            <a:r>
              <a:rPr lang="en-US" sz="2800" b="1" dirty="0">
                <a:solidFill>
                  <a:srgbClr val="17324D"/>
                </a:solidFill>
              </a:rPr>
              <a:t>20</a:t>
            </a:r>
            <a:endParaRPr lang="en-US" sz="2800" dirty="0"/>
          </a:p>
        </p:txBody>
      </p:sp>
      <p:sp>
        <p:nvSpPr>
          <p:cNvPr id="26" name="Text 24"/>
          <p:cNvSpPr/>
          <p:nvPr/>
        </p:nvSpPr>
        <p:spPr>
          <a:xfrm>
            <a:off x="5029200" y="4041648"/>
            <a:ext cx="1325880" cy="201168"/>
          </a:xfrm>
          <a:prstGeom prst="rect">
            <a:avLst/>
          </a:prstGeom>
          <a:noFill/>
          <a:ln/>
        </p:spPr>
        <p:txBody>
          <a:bodyPr wrap="square" lIns="0" tIns="0" rIns="0" bIns="0" rtlCol="0" anchor="ctr"/>
          <a:lstStyle/>
          <a:p>
            <a:pPr algn="ctr" indent="0" marL="0">
              <a:buNone/>
            </a:pPr>
            <a:r>
              <a:rPr lang="en-US" sz="850" b="1" dirty="0">
                <a:solidFill>
                  <a:srgbClr val="44546A"/>
                </a:solidFill>
              </a:rPr>
              <a:t>PAIN</a:t>
            </a:r>
            <a:endParaRPr lang="en-US" sz="850" dirty="0"/>
          </a:p>
        </p:txBody>
      </p:sp>
      <p:sp>
        <p:nvSpPr>
          <p:cNvPr id="27" name="Text 25"/>
          <p:cNvSpPr/>
          <p:nvPr/>
        </p:nvSpPr>
        <p:spPr>
          <a:xfrm>
            <a:off x="7086600" y="3429000"/>
            <a:ext cx="1325880" cy="594360"/>
          </a:xfrm>
          <a:prstGeom prst="rect">
            <a:avLst/>
          </a:prstGeom>
          <a:noFill/>
          <a:ln/>
        </p:spPr>
        <p:txBody>
          <a:bodyPr wrap="square" lIns="0" tIns="0" rIns="0" bIns="0" rtlCol="0" anchor="ctr"/>
          <a:lstStyle/>
          <a:p>
            <a:pPr algn="ctr" indent="0" marL="0">
              <a:buNone/>
            </a:pPr>
            <a:r>
              <a:rPr lang="en-US" sz="2800" b="1" dirty="0">
                <a:solidFill>
                  <a:srgbClr val="17324D"/>
                </a:solidFill>
              </a:rPr>
              <a:t>15</a:t>
            </a:r>
            <a:endParaRPr lang="en-US" sz="2800" dirty="0"/>
          </a:p>
        </p:txBody>
      </p:sp>
      <p:sp>
        <p:nvSpPr>
          <p:cNvPr id="28" name="Text 26"/>
          <p:cNvSpPr/>
          <p:nvPr/>
        </p:nvSpPr>
        <p:spPr>
          <a:xfrm>
            <a:off x="7086600" y="4041648"/>
            <a:ext cx="1325880" cy="201168"/>
          </a:xfrm>
          <a:prstGeom prst="rect">
            <a:avLst/>
          </a:prstGeom>
          <a:noFill/>
          <a:ln/>
        </p:spPr>
        <p:txBody>
          <a:bodyPr wrap="square" lIns="0" tIns="0" rIns="0" bIns="0" rtlCol="0" anchor="ctr"/>
          <a:lstStyle/>
          <a:p>
            <a:pPr algn="ctr" indent="0" marL="0">
              <a:buNone/>
            </a:pPr>
            <a:r>
              <a:rPr lang="en-US" sz="850" b="1" dirty="0">
                <a:solidFill>
                  <a:srgbClr val="44546A"/>
                </a:solidFill>
              </a:rPr>
              <a:t>ACCESS</a:t>
            </a:r>
            <a:endParaRPr lang="en-US" sz="850" dirty="0"/>
          </a:p>
        </p:txBody>
      </p:sp>
      <p:sp>
        <p:nvSpPr>
          <p:cNvPr id="29" name="Text 27"/>
          <p:cNvSpPr/>
          <p:nvPr/>
        </p:nvSpPr>
        <p:spPr>
          <a:xfrm>
            <a:off x="9144000" y="3429000"/>
            <a:ext cx="1325880" cy="594360"/>
          </a:xfrm>
          <a:prstGeom prst="rect">
            <a:avLst/>
          </a:prstGeom>
          <a:noFill/>
          <a:ln/>
        </p:spPr>
        <p:txBody>
          <a:bodyPr wrap="square" lIns="0" tIns="0" rIns="0" bIns="0" rtlCol="0" anchor="ctr"/>
          <a:lstStyle/>
          <a:p>
            <a:pPr algn="ctr" indent="0" marL="0">
              <a:buNone/>
            </a:pPr>
            <a:r>
              <a:rPr lang="en-US" sz="2800" b="1" dirty="0">
                <a:solidFill>
                  <a:srgbClr val="17324D"/>
                </a:solidFill>
              </a:rPr>
              <a:t>15</a:t>
            </a:r>
            <a:endParaRPr lang="en-US" sz="2800" dirty="0"/>
          </a:p>
        </p:txBody>
      </p:sp>
      <p:sp>
        <p:nvSpPr>
          <p:cNvPr id="30" name="Text 28"/>
          <p:cNvSpPr/>
          <p:nvPr/>
        </p:nvSpPr>
        <p:spPr>
          <a:xfrm>
            <a:off x="9144000" y="4041648"/>
            <a:ext cx="1325880" cy="201168"/>
          </a:xfrm>
          <a:prstGeom prst="rect">
            <a:avLst/>
          </a:prstGeom>
          <a:noFill/>
          <a:ln/>
        </p:spPr>
        <p:txBody>
          <a:bodyPr wrap="square" lIns="0" tIns="0" rIns="0" bIns="0" rtlCol="0" anchor="ctr"/>
          <a:lstStyle/>
          <a:p>
            <a:pPr algn="ctr" indent="0" marL="0">
              <a:buNone/>
            </a:pPr>
            <a:r>
              <a:rPr lang="en-US" sz="850" b="1" dirty="0">
                <a:solidFill>
                  <a:srgbClr val="44546A"/>
                </a:solidFill>
              </a:rPr>
              <a:t>EXPANSION</a:t>
            </a:r>
            <a:endParaRPr lang="en-US" sz="850" dirty="0"/>
          </a:p>
        </p:txBody>
      </p:sp>
      <p:sp>
        <p:nvSpPr>
          <p:cNvPr id="31" name="Shape 29"/>
          <p:cNvSpPr/>
          <p:nvPr/>
        </p:nvSpPr>
        <p:spPr>
          <a:xfrm>
            <a:off x="1874520" y="4800600"/>
            <a:ext cx="8046720" cy="822960"/>
          </a:xfrm>
          <a:prstGeom prst="roundRect">
            <a:avLst>
              <a:gd name="adj" fmla="val 8889"/>
            </a:avLst>
          </a:prstGeom>
          <a:solidFill>
            <a:srgbClr val="EEF3F6"/>
          </a:solidFill>
          <a:ln w="12700">
            <a:solidFill>
              <a:srgbClr val="D8E0E5"/>
            </a:solidFill>
            <a:prstDash val="solid"/>
          </a:ln>
        </p:spPr>
      </p:sp>
      <p:sp>
        <p:nvSpPr>
          <p:cNvPr id="32" name="Text 30"/>
          <p:cNvSpPr/>
          <p:nvPr/>
        </p:nvSpPr>
        <p:spPr>
          <a:xfrm>
            <a:off x="2103120" y="5065776"/>
            <a:ext cx="7589520" cy="237744"/>
          </a:xfrm>
          <a:prstGeom prst="rect">
            <a:avLst/>
          </a:prstGeom>
          <a:noFill/>
          <a:ln/>
        </p:spPr>
        <p:txBody>
          <a:bodyPr wrap="square" lIns="0" tIns="0" rIns="0" bIns="0" rtlCol="0" anchor="ctr"/>
          <a:lstStyle/>
          <a:p>
            <a:pPr algn="ctr" indent="0" marL="0">
              <a:buNone/>
            </a:pPr>
            <a:r>
              <a:rPr lang="en-US" sz="1200" b="1" dirty="0">
                <a:solidFill>
                  <a:srgbClr val="17324D"/>
                </a:solidFill>
              </a:rPr>
              <a:t>Tier A = 80-100 + credible trigger + named buying path. Famous company is not a qualification criterion.</a:t>
            </a:r>
            <a:endParaRPr lang="en-US" sz="120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05 | HOW I EARN THE FIRST CONVERSATION</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Fact -&gt; Hypothesis -&gt; Discovery Question</a:t>
            </a:r>
            <a:endParaRPr lang="en-US" sz="2500" dirty="0"/>
          </a:p>
        </p:txBody>
      </p:sp>
      <p:sp>
        <p:nvSpPr>
          <p:cNvPr id="4" name="Text 2"/>
          <p:cNvSpPr/>
          <p:nvPr/>
        </p:nvSpPr>
        <p:spPr>
          <a:xfrm>
            <a:off x="640080" y="1261872"/>
            <a:ext cx="10515600" cy="475488"/>
          </a:xfrm>
          <a:prstGeom prst="rect">
            <a:avLst/>
          </a:prstGeom>
          <a:noFill/>
          <a:ln/>
        </p:spPr>
        <p:txBody>
          <a:bodyPr wrap="square" lIns="0" tIns="0" rIns="0" bIns="0" rtlCol="0" anchor="ctr"/>
          <a:lstStyle/>
          <a:p>
            <a:pPr indent="0" marL="0">
              <a:buNone/>
            </a:pPr>
            <a:r>
              <a:rPr lang="en-US" sz="1150" dirty="0">
                <a:solidFill>
                  <a:srgbClr val="44546A"/>
                </a:solidFill>
              </a:rPr>
              <a:t>Account-specific relevance without pretending we know the customer's internal pain.</a:t>
            </a:r>
            <a:endParaRPr lang="en-US" sz="1150" dirty="0"/>
          </a:p>
        </p:txBody>
      </p:sp>
      <p:sp>
        <p:nvSpPr>
          <p:cNvPr id="5" name="Shape 3"/>
          <p:cNvSpPr/>
          <p:nvPr/>
        </p:nvSpPr>
        <p:spPr>
          <a:xfrm>
            <a:off x="822960" y="1965960"/>
            <a:ext cx="3108960" cy="2331720"/>
          </a:xfrm>
          <a:prstGeom prst="roundRect">
            <a:avLst>
              <a:gd name="adj" fmla="val 3137"/>
            </a:avLst>
          </a:prstGeom>
          <a:solidFill>
            <a:srgbClr val="FFFFFF"/>
          </a:solidFill>
          <a:ln w="12700">
            <a:solidFill>
              <a:srgbClr val="D8E0E5"/>
            </a:solidFill>
            <a:prstDash val="solid"/>
          </a:ln>
        </p:spPr>
      </p:sp>
      <p:sp>
        <p:nvSpPr>
          <p:cNvPr id="6" name="Text 4"/>
          <p:cNvSpPr/>
          <p:nvPr/>
        </p:nvSpPr>
        <p:spPr>
          <a:xfrm>
            <a:off x="1024128" y="2194560"/>
            <a:ext cx="2651760" cy="228600"/>
          </a:xfrm>
          <a:prstGeom prst="rect">
            <a:avLst/>
          </a:prstGeom>
          <a:noFill/>
          <a:ln/>
        </p:spPr>
        <p:txBody>
          <a:bodyPr wrap="square" lIns="0" tIns="0" rIns="0" bIns="0" rtlCol="0" anchor="ctr"/>
          <a:lstStyle/>
          <a:p>
            <a:pPr indent="0" marL="0">
              <a:buNone/>
            </a:pPr>
            <a:r>
              <a:rPr lang="en-US" sz="1000" b="1" dirty="0">
                <a:solidFill>
                  <a:srgbClr val="44546A"/>
                </a:solidFill>
              </a:rPr>
              <a:t>FACT</a:t>
            </a:r>
            <a:endParaRPr lang="en-US" sz="1000" dirty="0"/>
          </a:p>
        </p:txBody>
      </p:sp>
      <p:sp>
        <p:nvSpPr>
          <p:cNvPr id="7" name="Text 5"/>
          <p:cNvSpPr/>
          <p:nvPr/>
        </p:nvSpPr>
        <p:spPr>
          <a:xfrm>
            <a:off x="1024128" y="2743200"/>
            <a:ext cx="2697480" cy="960120"/>
          </a:xfrm>
          <a:prstGeom prst="rect">
            <a:avLst/>
          </a:prstGeom>
          <a:noFill/>
          <a:ln/>
        </p:spPr>
        <p:txBody>
          <a:bodyPr wrap="square" lIns="0" tIns="0" rIns="0" bIns="0" rtlCol="0" anchor="ctr">
            <a:normAutofit/>
          </a:bodyPr>
          <a:lstStyle/>
          <a:p>
            <a:pPr indent="0" marL="0">
              <a:buNone/>
            </a:pPr>
            <a:r>
              <a:rPr lang="en-US" sz="1300" dirty="0">
                <a:solidFill>
                  <a:srgbClr val="17324D"/>
                </a:solidFill>
              </a:rPr>
              <a:t>A specialty insurer announces a Guidewire transformation.</a:t>
            </a:r>
            <a:endParaRPr lang="en-US" sz="1300" dirty="0"/>
          </a:p>
        </p:txBody>
      </p:sp>
      <p:sp>
        <p:nvSpPr>
          <p:cNvPr id="8" name="Shape 6"/>
          <p:cNvSpPr/>
          <p:nvPr/>
        </p:nvSpPr>
        <p:spPr>
          <a:xfrm>
            <a:off x="3977640" y="3136392"/>
            <a:ext cx="393192" cy="0"/>
          </a:xfrm>
          <a:prstGeom prst="line">
            <a:avLst/>
          </a:prstGeom>
          <a:noFill/>
          <a:ln w="22860">
            <a:solidFill>
              <a:srgbClr val="1B6B73"/>
            </a:solidFill>
            <a:prstDash val="solid"/>
            <a:headEnd type="none"/>
            <a:tailEnd type="triangle"/>
          </a:ln>
        </p:spPr>
      </p:sp>
      <p:sp>
        <p:nvSpPr>
          <p:cNvPr id="9" name="Shape 7"/>
          <p:cNvSpPr/>
          <p:nvPr/>
        </p:nvSpPr>
        <p:spPr>
          <a:xfrm>
            <a:off x="4480560" y="1965960"/>
            <a:ext cx="3108960" cy="2331720"/>
          </a:xfrm>
          <a:prstGeom prst="roundRect">
            <a:avLst>
              <a:gd name="adj" fmla="val 3137"/>
            </a:avLst>
          </a:prstGeom>
          <a:solidFill>
            <a:srgbClr val="F0F6F6"/>
          </a:solidFill>
          <a:ln w="12700">
            <a:solidFill>
              <a:srgbClr val="D8E0E5"/>
            </a:solidFill>
            <a:prstDash val="solid"/>
          </a:ln>
        </p:spPr>
      </p:sp>
      <p:sp>
        <p:nvSpPr>
          <p:cNvPr id="10" name="Text 8"/>
          <p:cNvSpPr/>
          <p:nvPr/>
        </p:nvSpPr>
        <p:spPr>
          <a:xfrm>
            <a:off x="4681728" y="2194560"/>
            <a:ext cx="2651760" cy="228600"/>
          </a:xfrm>
          <a:prstGeom prst="rect">
            <a:avLst/>
          </a:prstGeom>
          <a:noFill/>
          <a:ln/>
        </p:spPr>
        <p:txBody>
          <a:bodyPr wrap="square" lIns="0" tIns="0" rIns="0" bIns="0" rtlCol="0" anchor="ctr"/>
          <a:lstStyle/>
          <a:p>
            <a:pPr indent="0" marL="0">
              <a:buNone/>
            </a:pPr>
            <a:r>
              <a:rPr lang="en-US" sz="1000" b="1" dirty="0">
                <a:solidFill>
                  <a:srgbClr val="1B6B73"/>
                </a:solidFill>
              </a:rPr>
              <a:t>HYPOTHESIS</a:t>
            </a:r>
            <a:endParaRPr lang="en-US" sz="1000" dirty="0"/>
          </a:p>
        </p:txBody>
      </p:sp>
      <p:sp>
        <p:nvSpPr>
          <p:cNvPr id="11" name="Text 9"/>
          <p:cNvSpPr/>
          <p:nvPr/>
        </p:nvSpPr>
        <p:spPr>
          <a:xfrm>
            <a:off x="4681728" y="2743200"/>
            <a:ext cx="2697480" cy="960120"/>
          </a:xfrm>
          <a:prstGeom prst="rect">
            <a:avLst/>
          </a:prstGeom>
          <a:noFill/>
          <a:ln/>
        </p:spPr>
        <p:txBody>
          <a:bodyPr wrap="square" lIns="0" tIns="0" rIns="0" bIns="0" rtlCol="0" anchor="ctr">
            <a:normAutofit/>
          </a:bodyPr>
          <a:lstStyle/>
          <a:p>
            <a:pPr indent="0" marL="0">
              <a:buNone/>
            </a:pPr>
            <a:r>
              <a:rPr lang="en-US" sz="1300" dirty="0">
                <a:solidFill>
                  <a:srgbClr val="17324D"/>
                </a:solidFill>
              </a:rPr>
              <a:t>Some document-heavy claims workflows may still sit outside the core platform.</a:t>
            </a:r>
            <a:endParaRPr lang="en-US" sz="1300" dirty="0"/>
          </a:p>
        </p:txBody>
      </p:sp>
      <p:sp>
        <p:nvSpPr>
          <p:cNvPr id="12" name="Shape 10"/>
          <p:cNvSpPr/>
          <p:nvPr/>
        </p:nvSpPr>
        <p:spPr>
          <a:xfrm>
            <a:off x="7635240" y="3136392"/>
            <a:ext cx="393192" cy="0"/>
          </a:xfrm>
          <a:prstGeom prst="line">
            <a:avLst/>
          </a:prstGeom>
          <a:noFill/>
          <a:ln w="22860">
            <a:solidFill>
              <a:srgbClr val="1B6B73"/>
            </a:solidFill>
            <a:prstDash val="solid"/>
            <a:headEnd type="none"/>
            <a:tailEnd type="triangle"/>
          </a:ln>
        </p:spPr>
      </p:sp>
      <p:sp>
        <p:nvSpPr>
          <p:cNvPr id="13" name="Shape 11"/>
          <p:cNvSpPr/>
          <p:nvPr/>
        </p:nvSpPr>
        <p:spPr>
          <a:xfrm>
            <a:off x="8138160" y="1965960"/>
            <a:ext cx="3108960" cy="2331720"/>
          </a:xfrm>
          <a:prstGeom prst="roundRect">
            <a:avLst>
              <a:gd name="adj" fmla="val 3137"/>
            </a:avLst>
          </a:prstGeom>
          <a:solidFill>
            <a:srgbClr val="FFFFFF"/>
          </a:solidFill>
          <a:ln w="12700">
            <a:solidFill>
              <a:srgbClr val="D8E0E5"/>
            </a:solidFill>
            <a:prstDash val="solid"/>
          </a:ln>
        </p:spPr>
      </p:sp>
      <p:sp>
        <p:nvSpPr>
          <p:cNvPr id="14" name="Text 12"/>
          <p:cNvSpPr/>
          <p:nvPr/>
        </p:nvSpPr>
        <p:spPr>
          <a:xfrm>
            <a:off x="8339328" y="2194560"/>
            <a:ext cx="2651760" cy="228600"/>
          </a:xfrm>
          <a:prstGeom prst="rect">
            <a:avLst/>
          </a:prstGeom>
          <a:noFill/>
          <a:ln/>
        </p:spPr>
        <p:txBody>
          <a:bodyPr wrap="square" lIns="0" tIns="0" rIns="0" bIns="0" rtlCol="0" anchor="ctr"/>
          <a:lstStyle/>
          <a:p>
            <a:pPr indent="0" marL="0">
              <a:buNone/>
            </a:pPr>
            <a:r>
              <a:rPr lang="en-US" sz="1000" b="1" dirty="0">
                <a:solidFill>
                  <a:srgbClr val="44546A"/>
                </a:solidFill>
              </a:rPr>
              <a:t>QUESTION</a:t>
            </a:r>
            <a:endParaRPr lang="en-US" sz="1000" dirty="0"/>
          </a:p>
        </p:txBody>
      </p:sp>
      <p:sp>
        <p:nvSpPr>
          <p:cNvPr id="15" name="Text 13"/>
          <p:cNvSpPr/>
          <p:nvPr/>
        </p:nvSpPr>
        <p:spPr>
          <a:xfrm>
            <a:off x="8339328" y="2743200"/>
            <a:ext cx="2697480" cy="960120"/>
          </a:xfrm>
          <a:prstGeom prst="rect">
            <a:avLst/>
          </a:prstGeom>
          <a:noFill/>
          <a:ln/>
        </p:spPr>
        <p:txBody>
          <a:bodyPr wrap="square" lIns="0" tIns="0" rIns="0" bIns="0" rtlCol="0" anchor="ctr">
            <a:normAutofit/>
          </a:bodyPr>
          <a:lstStyle/>
          <a:p>
            <a:pPr indent="0" marL="0">
              <a:buNone/>
            </a:pPr>
            <a:r>
              <a:rPr lang="en-US" sz="1300" b="1" dirty="0">
                <a:solidFill>
                  <a:srgbClr val="17324D"/>
                </a:solidFill>
              </a:rPr>
              <a:t>What still happens across email, documents and manual queues after ClaimCenter owns the claim lifecycle?</a:t>
            </a:r>
            <a:endParaRPr lang="en-US" sz="1300" dirty="0"/>
          </a:p>
        </p:txBody>
      </p:sp>
      <p:sp>
        <p:nvSpPr>
          <p:cNvPr id="16" name="Text 14"/>
          <p:cNvSpPr/>
          <p:nvPr/>
        </p:nvSpPr>
        <p:spPr>
          <a:xfrm>
            <a:off x="1005840" y="4846320"/>
            <a:ext cx="9966960" cy="457200"/>
          </a:xfrm>
          <a:prstGeom prst="rect">
            <a:avLst/>
          </a:prstGeom>
          <a:noFill/>
          <a:ln/>
        </p:spPr>
        <p:txBody>
          <a:bodyPr wrap="square" lIns="0" tIns="0" rIns="0" bIns="0" rtlCol="0" anchor="ctr"/>
          <a:lstStyle/>
          <a:p>
            <a:pPr algn="ctr" indent="0" marL="0">
              <a:buNone/>
            </a:pPr>
            <a:r>
              <a:rPr lang="en-US" sz="1500" b="1" dirty="0">
                <a:solidFill>
                  <a:srgbClr val="1B6B73"/>
                </a:solidFill>
              </a:rPr>
              <a:t>The outreach is not 'Can I show you Regure?' The outreach earns the right to diagnose a workflow.</a:t>
            </a:r>
            <a:endParaRPr lang="en-US" sz="150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06 | HOW I CONVERT</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No demo before diagnosis</a:t>
            </a:r>
            <a:endParaRPr lang="en-US" sz="2500" dirty="0"/>
          </a:p>
        </p:txBody>
      </p:sp>
      <p:sp>
        <p:nvSpPr>
          <p:cNvPr id="4" name="Shape 2"/>
          <p:cNvSpPr/>
          <p:nvPr/>
        </p:nvSpPr>
        <p:spPr>
          <a:xfrm>
            <a:off x="1234440" y="1691640"/>
            <a:ext cx="9692640" cy="566928"/>
          </a:xfrm>
          <a:prstGeom prst="chevron">
            <a:avLst/>
          </a:prstGeom>
          <a:solidFill>
            <a:srgbClr val="DDEFEF"/>
          </a:solidFill>
          <a:ln w="12700">
            <a:solidFill>
              <a:srgbClr val="D8E0E5"/>
            </a:solidFill>
            <a:prstDash val="solid"/>
          </a:ln>
        </p:spPr>
      </p:sp>
      <p:sp>
        <p:nvSpPr>
          <p:cNvPr id="5" name="Text 3"/>
          <p:cNvSpPr/>
          <p:nvPr/>
        </p:nvSpPr>
        <p:spPr>
          <a:xfrm>
            <a:off x="1399032" y="1856232"/>
            <a:ext cx="320040" cy="182880"/>
          </a:xfrm>
          <a:prstGeom prst="rect">
            <a:avLst/>
          </a:prstGeom>
          <a:noFill/>
          <a:ln/>
        </p:spPr>
        <p:txBody>
          <a:bodyPr wrap="square" lIns="0" tIns="0" rIns="0" bIns="0" rtlCol="0" anchor="ctr"/>
          <a:lstStyle/>
          <a:p>
            <a:pPr indent="0" marL="0">
              <a:buNone/>
            </a:pPr>
            <a:r>
              <a:rPr lang="en-US" sz="900" b="1" dirty="0">
                <a:solidFill>
                  <a:srgbClr val="1B6B73"/>
                </a:solidFill>
              </a:rPr>
              <a:t>1</a:t>
            </a:r>
            <a:endParaRPr lang="en-US" sz="900" dirty="0"/>
          </a:p>
        </p:txBody>
      </p:sp>
      <p:sp>
        <p:nvSpPr>
          <p:cNvPr id="6" name="Text 4"/>
          <p:cNvSpPr/>
          <p:nvPr/>
        </p:nvSpPr>
        <p:spPr>
          <a:xfrm>
            <a:off x="1801368" y="1828800"/>
            <a:ext cx="1417320" cy="201168"/>
          </a:xfrm>
          <a:prstGeom prst="rect">
            <a:avLst/>
          </a:prstGeom>
          <a:noFill/>
          <a:ln/>
        </p:spPr>
        <p:txBody>
          <a:bodyPr wrap="square" lIns="0" tIns="0" rIns="0" bIns="0" rtlCol="0" anchor="ctr"/>
          <a:lstStyle/>
          <a:p>
            <a:pPr indent="0" marL="0">
              <a:buNone/>
            </a:pPr>
            <a:r>
              <a:rPr lang="en-US" sz="1100" b="1" dirty="0">
                <a:solidFill>
                  <a:srgbClr val="17324D"/>
                </a:solidFill>
              </a:rPr>
              <a:t>Problem</a:t>
            </a:r>
            <a:endParaRPr lang="en-US" sz="1100" dirty="0"/>
          </a:p>
        </p:txBody>
      </p:sp>
      <p:sp>
        <p:nvSpPr>
          <p:cNvPr id="7" name="Text 5"/>
          <p:cNvSpPr/>
          <p:nvPr/>
        </p:nvSpPr>
        <p:spPr>
          <a:xfrm>
            <a:off x="3291840" y="1828800"/>
            <a:ext cx="7360920" cy="201168"/>
          </a:xfrm>
          <a:prstGeom prst="rect">
            <a:avLst/>
          </a:prstGeom>
          <a:noFill/>
          <a:ln/>
        </p:spPr>
        <p:txBody>
          <a:bodyPr wrap="square" lIns="0" tIns="0" rIns="0" bIns="0" rtlCol="0" anchor="ctr"/>
          <a:lstStyle/>
          <a:p>
            <a:pPr indent="0" marL="0">
              <a:buNone/>
            </a:pPr>
            <a:r>
              <a:rPr lang="en-US" sz="1000" dirty="0">
                <a:solidFill>
                  <a:srgbClr val="222222"/>
                </a:solidFill>
              </a:rPr>
              <a:t>What is happening?</a:t>
            </a:r>
            <a:endParaRPr lang="en-US" sz="1000" dirty="0"/>
          </a:p>
        </p:txBody>
      </p:sp>
      <p:sp>
        <p:nvSpPr>
          <p:cNvPr id="8" name="Shape 6"/>
          <p:cNvSpPr/>
          <p:nvPr/>
        </p:nvSpPr>
        <p:spPr>
          <a:xfrm>
            <a:off x="1691640" y="2459736"/>
            <a:ext cx="8778240" cy="566928"/>
          </a:xfrm>
          <a:prstGeom prst="chevron">
            <a:avLst/>
          </a:prstGeom>
          <a:solidFill>
            <a:srgbClr val="DDEFEF"/>
          </a:solidFill>
          <a:ln w="12700">
            <a:solidFill>
              <a:srgbClr val="D8E0E5"/>
            </a:solidFill>
            <a:prstDash val="solid"/>
          </a:ln>
        </p:spPr>
      </p:sp>
      <p:sp>
        <p:nvSpPr>
          <p:cNvPr id="9" name="Text 7"/>
          <p:cNvSpPr/>
          <p:nvPr/>
        </p:nvSpPr>
        <p:spPr>
          <a:xfrm>
            <a:off x="1856232" y="2624328"/>
            <a:ext cx="320040" cy="182880"/>
          </a:xfrm>
          <a:prstGeom prst="rect">
            <a:avLst/>
          </a:prstGeom>
          <a:noFill/>
          <a:ln/>
        </p:spPr>
        <p:txBody>
          <a:bodyPr wrap="square" lIns="0" tIns="0" rIns="0" bIns="0" rtlCol="0" anchor="ctr"/>
          <a:lstStyle/>
          <a:p>
            <a:pPr indent="0" marL="0">
              <a:buNone/>
            </a:pPr>
            <a:r>
              <a:rPr lang="en-US" sz="900" b="1" dirty="0">
                <a:solidFill>
                  <a:srgbClr val="1B6B73"/>
                </a:solidFill>
              </a:rPr>
              <a:t>2</a:t>
            </a:r>
            <a:endParaRPr lang="en-US" sz="900" dirty="0"/>
          </a:p>
        </p:txBody>
      </p:sp>
      <p:sp>
        <p:nvSpPr>
          <p:cNvPr id="10" name="Text 8"/>
          <p:cNvSpPr/>
          <p:nvPr/>
        </p:nvSpPr>
        <p:spPr>
          <a:xfrm>
            <a:off x="2258568" y="2596896"/>
            <a:ext cx="1417320" cy="201168"/>
          </a:xfrm>
          <a:prstGeom prst="rect">
            <a:avLst/>
          </a:prstGeom>
          <a:noFill/>
          <a:ln/>
        </p:spPr>
        <p:txBody>
          <a:bodyPr wrap="square" lIns="0" tIns="0" rIns="0" bIns="0" rtlCol="0" anchor="ctr"/>
          <a:lstStyle/>
          <a:p>
            <a:pPr indent="0" marL="0">
              <a:buNone/>
            </a:pPr>
            <a:r>
              <a:rPr lang="en-US" sz="1100" b="1" dirty="0">
                <a:solidFill>
                  <a:srgbClr val="17324D"/>
                </a:solidFill>
              </a:rPr>
              <a:t>Impact</a:t>
            </a:r>
            <a:endParaRPr lang="en-US" sz="1100" dirty="0"/>
          </a:p>
        </p:txBody>
      </p:sp>
      <p:sp>
        <p:nvSpPr>
          <p:cNvPr id="11" name="Text 9"/>
          <p:cNvSpPr/>
          <p:nvPr/>
        </p:nvSpPr>
        <p:spPr>
          <a:xfrm>
            <a:off x="3749040" y="2596896"/>
            <a:ext cx="6446520" cy="201168"/>
          </a:xfrm>
          <a:prstGeom prst="rect">
            <a:avLst/>
          </a:prstGeom>
          <a:noFill/>
          <a:ln/>
        </p:spPr>
        <p:txBody>
          <a:bodyPr wrap="square" lIns="0" tIns="0" rIns="0" bIns="0" rtlCol="0" anchor="ctr"/>
          <a:lstStyle/>
          <a:p>
            <a:pPr indent="0" marL="0">
              <a:buNone/>
            </a:pPr>
            <a:r>
              <a:rPr lang="en-US" sz="1000" dirty="0">
                <a:solidFill>
                  <a:srgbClr val="222222"/>
                </a:solidFill>
              </a:rPr>
              <a:t>What does it cost or constrain?</a:t>
            </a:r>
            <a:endParaRPr lang="en-US" sz="1000" dirty="0"/>
          </a:p>
        </p:txBody>
      </p:sp>
      <p:sp>
        <p:nvSpPr>
          <p:cNvPr id="12" name="Shape 10"/>
          <p:cNvSpPr/>
          <p:nvPr/>
        </p:nvSpPr>
        <p:spPr>
          <a:xfrm>
            <a:off x="2148840" y="3227832"/>
            <a:ext cx="7863840" cy="566928"/>
          </a:xfrm>
          <a:prstGeom prst="chevron">
            <a:avLst/>
          </a:prstGeom>
          <a:solidFill>
            <a:srgbClr val="EEF3F6"/>
          </a:solidFill>
          <a:ln w="12700">
            <a:solidFill>
              <a:srgbClr val="D8E0E5"/>
            </a:solidFill>
            <a:prstDash val="solid"/>
          </a:ln>
        </p:spPr>
      </p:sp>
      <p:sp>
        <p:nvSpPr>
          <p:cNvPr id="13" name="Text 11"/>
          <p:cNvSpPr/>
          <p:nvPr/>
        </p:nvSpPr>
        <p:spPr>
          <a:xfrm>
            <a:off x="2313432" y="3392424"/>
            <a:ext cx="320040" cy="182880"/>
          </a:xfrm>
          <a:prstGeom prst="rect">
            <a:avLst/>
          </a:prstGeom>
          <a:noFill/>
          <a:ln/>
        </p:spPr>
        <p:txBody>
          <a:bodyPr wrap="square" lIns="0" tIns="0" rIns="0" bIns="0" rtlCol="0" anchor="ctr"/>
          <a:lstStyle/>
          <a:p>
            <a:pPr indent="0" marL="0">
              <a:buNone/>
            </a:pPr>
            <a:r>
              <a:rPr lang="en-US" sz="900" b="1" dirty="0">
                <a:solidFill>
                  <a:srgbClr val="1B6B73"/>
                </a:solidFill>
              </a:rPr>
              <a:t>3</a:t>
            </a:r>
            <a:endParaRPr lang="en-US" sz="900" dirty="0"/>
          </a:p>
        </p:txBody>
      </p:sp>
      <p:sp>
        <p:nvSpPr>
          <p:cNvPr id="14" name="Text 12"/>
          <p:cNvSpPr/>
          <p:nvPr/>
        </p:nvSpPr>
        <p:spPr>
          <a:xfrm>
            <a:off x="2715768" y="3364992"/>
            <a:ext cx="1417320" cy="201168"/>
          </a:xfrm>
          <a:prstGeom prst="rect">
            <a:avLst/>
          </a:prstGeom>
          <a:noFill/>
          <a:ln/>
        </p:spPr>
        <p:txBody>
          <a:bodyPr wrap="square" lIns="0" tIns="0" rIns="0" bIns="0" rtlCol="0" anchor="ctr"/>
          <a:lstStyle/>
          <a:p>
            <a:pPr indent="0" marL="0">
              <a:buNone/>
            </a:pPr>
            <a:r>
              <a:rPr lang="en-US" sz="1100" b="1" dirty="0">
                <a:solidFill>
                  <a:srgbClr val="17324D"/>
                </a:solidFill>
              </a:rPr>
              <a:t>Critical Event</a:t>
            </a:r>
            <a:endParaRPr lang="en-US" sz="1100" dirty="0"/>
          </a:p>
        </p:txBody>
      </p:sp>
      <p:sp>
        <p:nvSpPr>
          <p:cNvPr id="15" name="Text 13"/>
          <p:cNvSpPr/>
          <p:nvPr/>
        </p:nvSpPr>
        <p:spPr>
          <a:xfrm>
            <a:off x="4206240" y="3364992"/>
            <a:ext cx="5532120" cy="201168"/>
          </a:xfrm>
          <a:prstGeom prst="rect">
            <a:avLst/>
          </a:prstGeom>
          <a:noFill/>
          <a:ln/>
        </p:spPr>
        <p:txBody>
          <a:bodyPr wrap="square" lIns="0" tIns="0" rIns="0" bIns="0" rtlCol="0" anchor="ctr"/>
          <a:lstStyle/>
          <a:p>
            <a:pPr indent="0" marL="0">
              <a:buNone/>
            </a:pPr>
            <a:r>
              <a:rPr lang="en-US" sz="1000" dirty="0">
                <a:solidFill>
                  <a:srgbClr val="222222"/>
                </a:solidFill>
              </a:rPr>
              <a:t>Why now?</a:t>
            </a:r>
            <a:endParaRPr lang="en-US" sz="1000" dirty="0"/>
          </a:p>
        </p:txBody>
      </p:sp>
      <p:sp>
        <p:nvSpPr>
          <p:cNvPr id="16" name="Shape 14"/>
          <p:cNvSpPr/>
          <p:nvPr/>
        </p:nvSpPr>
        <p:spPr>
          <a:xfrm>
            <a:off x="2606040" y="3995928"/>
            <a:ext cx="6949440" cy="566928"/>
          </a:xfrm>
          <a:prstGeom prst="chevron">
            <a:avLst/>
          </a:prstGeom>
          <a:solidFill>
            <a:srgbClr val="EEF3F6"/>
          </a:solidFill>
          <a:ln w="12700">
            <a:solidFill>
              <a:srgbClr val="D8E0E5"/>
            </a:solidFill>
            <a:prstDash val="solid"/>
          </a:ln>
        </p:spPr>
      </p:sp>
      <p:sp>
        <p:nvSpPr>
          <p:cNvPr id="17" name="Text 15"/>
          <p:cNvSpPr/>
          <p:nvPr/>
        </p:nvSpPr>
        <p:spPr>
          <a:xfrm>
            <a:off x="2770632" y="4160520"/>
            <a:ext cx="320040" cy="182880"/>
          </a:xfrm>
          <a:prstGeom prst="rect">
            <a:avLst/>
          </a:prstGeom>
          <a:noFill/>
          <a:ln/>
        </p:spPr>
        <p:txBody>
          <a:bodyPr wrap="square" lIns="0" tIns="0" rIns="0" bIns="0" rtlCol="0" anchor="ctr"/>
          <a:lstStyle/>
          <a:p>
            <a:pPr indent="0" marL="0">
              <a:buNone/>
            </a:pPr>
            <a:r>
              <a:rPr lang="en-US" sz="900" b="1" dirty="0">
                <a:solidFill>
                  <a:srgbClr val="1B6B73"/>
                </a:solidFill>
              </a:rPr>
              <a:t>4</a:t>
            </a:r>
            <a:endParaRPr lang="en-US" sz="900" dirty="0"/>
          </a:p>
        </p:txBody>
      </p:sp>
      <p:sp>
        <p:nvSpPr>
          <p:cNvPr id="18" name="Text 16"/>
          <p:cNvSpPr/>
          <p:nvPr/>
        </p:nvSpPr>
        <p:spPr>
          <a:xfrm>
            <a:off x="3172968" y="4133088"/>
            <a:ext cx="1417320" cy="201168"/>
          </a:xfrm>
          <a:prstGeom prst="rect">
            <a:avLst/>
          </a:prstGeom>
          <a:noFill/>
          <a:ln/>
        </p:spPr>
        <p:txBody>
          <a:bodyPr wrap="square" lIns="0" tIns="0" rIns="0" bIns="0" rtlCol="0" anchor="ctr"/>
          <a:lstStyle/>
          <a:p>
            <a:pPr indent="0" marL="0">
              <a:buNone/>
            </a:pPr>
            <a:r>
              <a:rPr lang="en-US" sz="1100" b="1" dirty="0">
                <a:solidFill>
                  <a:srgbClr val="17324D"/>
                </a:solidFill>
              </a:rPr>
              <a:t>Decision</a:t>
            </a:r>
            <a:endParaRPr lang="en-US" sz="1100" dirty="0"/>
          </a:p>
        </p:txBody>
      </p:sp>
      <p:sp>
        <p:nvSpPr>
          <p:cNvPr id="19" name="Text 17"/>
          <p:cNvSpPr/>
          <p:nvPr/>
        </p:nvSpPr>
        <p:spPr>
          <a:xfrm>
            <a:off x="4663440" y="4133088"/>
            <a:ext cx="4617720" cy="201168"/>
          </a:xfrm>
          <a:prstGeom prst="rect">
            <a:avLst/>
          </a:prstGeom>
          <a:noFill/>
          <a:ln/>
        </p:spPr>
        <p:txBody>
          <a:bodyPr wrap="square" lIns="0" tIns="0" rIns="0" bIns="0" rtlCol="0" anchor="ctr"/>
          <a:lstStyle/>
          <a:p>
            <a:pPr indent="0" marL="0">
              <a:buNone/>
            </a:pPr>
            <a:r>
              <a:rPr lang="en-US" sz="1000" dirty="0">
                <a:solidFill>
                  <a:srgbClr val="222222"/>
                </a:solidFill>
              </a:rPr>
              <a:t>Who decides and how?</a:t>
            </a:r>
            <a:endParaRPr lang="en-US" sz="1000" dirty="0"/>
          </a:p>
        </p:txBody>
      </p:sp>
      <p:sp>
        <p:nvSpPr>
          <p:cNvPr id="20" name="Shape 18"/>
          <p:cNvSpPr/>
          <p:nvPr/>
        </p:nvSpPr>
        <p:spPr>
          <a:xfrm>
            <a:off x="3063240" y="4764024"/>
            <a:ext cx="6035040" cy="566928"/>
          </a:xfrm>
          <a:prstGeom prst="chevron">
            <a:avLst/>
          </a:prstGeom>
          <a:solidFill>
            <a:srgbClr val="EEF3F6"/>
          </a:solidFill>
          <a:ln w="12700">
            <a:solidFill>
              <a:srgbClr val="D8E0E5"/>
            </a:solidFill>
            <a:prstDash val="solid"/>
          </a:ln>
        </p:spPr>
      </p:sp>
      <p:sp>
        <p:nvSpPr>
          <p:cNvPr id="21" name="Text 19"/>
          <p:cNvSpPr/>
          <p:nvPr/>
        </p:nvSpPr>
        <p:spPr>
          <a:xfrm>
            <a:off x="3227832" y="4928616"/>
            <a:ext cx="320040" cy="182880"/>
          </a:xfrm>
          <a:prstGeom prst="rect">
            <a:avLst/>
          </a:prstGeom>
          <a:noFill/>
          <a:ln/>
        </p:spPr>
        <p:txBody>
          <a:bodyPr wrap="square" lIns="0" tIns="0" rIns="0" bIns="0" rtlCol="0" anchor="ctr"/>
          <a:lstStyle/>
          <a:p>
            <a:pPr indent="0" marL="0">
              <a:buNone/>
            </a:pPr>
            <a:r>
              <a:rPr lang="en-US" sz="900" b="1" dirty="0">
                <a:solidFill>
                  <a:srgbClr val="1B6B73"/>
                </a:solidFill>
              </a:rPr>
              <a:t>5</a:t>
            </a:r>
            <a:endParaRPr lang="en-US" sz="900" dirty="0"/>
          </a:p>
        </p:txBody>
      </p:sp>
      <p:sp>
        <p:nvSpPr>
          <p:cNvPr id="22" name="Text 20"/>
          <p:cNvSpPr/>
          <p:nvPr/>
        </p:nvSpPr>
        <p:spPr>
          <a:xfrm>
            <a:off x="3630168" y="4901184"/>
            <a:ext cx="1417320" cy="201168"/>
          </a:xfrm>
          <a:prstGeom prst="rect">
            <a:avLst/>
          </a:prstGeom>
          <a:noFill/>
          <a:ln/>
        </p:spPr>
        <p:txBody>
          <a:bodyPr wrap="square" lIns="0" tIns="0" rIns="0" bIns="0" rtlCol="0" anchor="ctr"/>
          <a:lstStyle/>
          <a:p>
            <a:pPr indent="0" marL="0">
              <a:buNone/>
            </a:pPr>
            <a:r>
              <a:rPr lang="en-US" sz="1100" b="1" dirty="0">
                <a:solidFill>
                  <a:srgbClr val="17324D"/>
                </a:solidFill>
              </a:rPr>
              <a:t>Proof</a:t>
            </a:r>
            <a:endParaRPr lang="en-US" sz="1100" dirty="0"/>
          </a:p>
        </p:txBody>
      </p:sp>
      <p:sp>
        <p:nvSpPr>
          <p:cNvPr id="23" name="Text 21"/>
          <p:cNvSpPr/>
          <p:nvPr/>
        </p:nvSpPr>
        <p:spPr>
          <a:xfrm>
            <a:off x="5120640" y="4901184"/>
            <a:ext cx="3703320" cy="201168"/>
          </a:xfrm>
          <a:prstGeom prst="rect">
            <a:avLst/>
          </a:prstGeom>
          <a:noFill/>
          <a:ln/>
        </p:spPr>
        <p:txBody>
          <a:bodyPr wrap="square" lIns="0" tIns="0" rIns="0" bIns="0" rtlCol="0" anchor="ctr"/>
          <a:lstStyle/>
          <a:p>
            <a:pPr indent="0" marL="0">
              <a:buNone/>
            </a:pPr>
            <a:r>
              <a:rPr lang="en-US" sz="1000" dirty="0">
                <a:solidFill>
                  <a:srgbClr val="222222"/>
                </a:solidFill>
              </a:rPr>
              <a:t>What must the solution prove?</a:t>
            </a:r>
            <a:endParaRPr lang="en-US" sz="1000" dirty="0"/>
          </a:p>
        </p:txBody>
      </p:sp>
      <p:sp>
        <p:nvSpPr>
          <p:cNvPr id="24" name="Text 22"/>
          <p:cNvSpPr/>
          <p:nvPr/>
        </p:nvSpPr>
        <p:spPr>
          <a:xfrm>
            <a:off x="1005840" y="5715000"/>
            <a:ext cx="10058400" cy="384048"/>
          </a:xfrm>
          <a:prstGeom prst="rect">
            <a:avLst/>
          </a:prstGeom>
          <a:noFill/>
          <a:ln/>
        </p:spPr>
        <p:txBody>
          <a:bodyPr wrap="square" lIns="0" tIns="0" rIns="0" bIns="0" rtlCol="0" anchor="ctr"/>
          <a:lstStyle/>
          <a:p>
            <a:pPr algn="ctr" indent="0" marL="0">
              <a:buNone/>
            </a:pPr>
            <a:r>
              <a:rPr lang="en-US" sz="1150" b="1" dirty="0">
                <a:solidFill>
                  <a:srgbClr val="17324D"/>
                </a:solidFill>
              </a:rPr>
              <a:t>SPICED diagnoses. MEDDPICC inspects deal quality. Challenger reframes status quo. The customer business case determines whether we should proceed.</a:t>
            </a:r>
            <a:endParaRPr lang="en-US" sz="115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07 | HOW I GROW THE ACCOUNT</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The first win should create insight, not just revenue</a:t>
            </a:r>
            <a:endParaRPr lang="en-US" sz="2500" dirty="0"/>
          </a:p>
        </p:txBody>
      </p:sp>
      <p:sp>
        <p:nvSpPr>
          <p:cNvPr id="4" name="Text 2"/>
          <p:cNvSpPr/>
          <p:nvPr/>
        </p:nvSpPr>
        <p:spPr>
          <a:xfrm>
            <a:off x="685800" y="2020824"/>
            <a:ext cx="1188720" cy="228600"/>
          </a:xfrm>
          <a:prstGeom prst="rect">
            <a:avLst/>
          </a:prstGeom>
          <a:noFill/>
          <a:ln/>
        </p:spPr>
        <p:txBody>
          <a:bodyPr wrap="square" lIns="0" tIns="0" rIns="0" bIns="0" rtlCol="0" anchor="ctr"/>
          <a:lstStyle/>
          <a:p>
            <a:pPr indent="0" marL="0">
              <a:buNone/>
            </a:pPr>
            <a:r>
              <a:rPr lang="en-US" sz="1300" b="1" dirty="0">
                <a:solidFill>
                  <a:srgbClr val="17324D"/>
                </a:solidFill>
              </a:rPr>
              <a:t>clinIQ</a:t>
            </a:r>
            <a:endParaRPr lang="en-US" sz="1300" dirty="0"/>
          </a:p>
        </p:txBody>
      </p:sp>
      <p:sp>
        <p:nvSpPr>
          <p:cNvPr id="5" name="Shape 3"/>
          <p:cNvSpPr/>
          <p:nvPr/>
        </p:nvSpPr>
        <p:spPr>
          <a:xfrm>
            <a:off x="1920240" y="1783080"/>
            <a:ext cx="2011680" cy="713232"/>
          </a:xfrm>
          <a:prstGeom prst="roundRect">
            <a:avLst>
              <a:gd name="adj" fmla="val 10256"/>
            </a:avLst>
          </a:prstGeom>
          <a:solidFill>
            <a:srgbClr val="FFFFFF"/>
          </a:solidFill>
          <a:ln w="12700">
            <a:solidFill>
              <a:srgbClr val="D8E0E5"/>
            </a:solidFill>
            <a:prstDash val="solid"/>
          </a:ln>
        </p:spPr>
      </p:sp>
      <p:sp>
        <p:nvSpPr>
          <p:cNvPr id="6" name="Text 4"/>
          <p:cNvSpPr/>
          <p:nvPr/>
        </p:nvSpPr>
        <p:spPr>
          <a:xfrm>
            <a:off x="2029968" y="2020824"/>
            <a:ext cx="1792224" cy="201168"/>
          </a:xfrm>
          <a:prstGeom prst="rect">
            <a:avLst/>
          </a:prstGeom>
          <a:noFill/>
          <a:ln/>
        </p:spPr>
        <p:txBody>
          <a:bodyPr wrap="square" lIns="0" tIns="0" rIns="0" bIns="0" rtlCol="0" anchor="ctr"/>
          <a:lstStyle/>
          <a:p>
            <a:pPr algn="ctr" indent="0" marL="0">
              <a:buNone/>
            </a:pPr>
            <a:r>
              <a:rPr lang="en-US" sz="930" b="1" dirty="0">
                <a:solidFill>
                  <a:srgbClr val="44546A"/>
                </a:solidFill>
              </a:rPr>
              <a:t>Module / site</a:t>
            </a:r>
            <a:endParaRPr lang="en-US" sz="930" dirty="0"/>
          </a:p>
        </p:txBody>
      </p:sp>
      <p:sp>
        <p:nvSpPr>
          <p:cNvPr id="7" name="Shape 5"/>
          <p:cNvSpPr/>
          <p:nvPr/>
        </p:nvSpPr>
        <p:spPr>
          <a:xfrm>
            <a:off x="3931920" y="2139696"/>
            <a:ext cx="256032" cy="0"/>
          </a:xfrm>
          <a:prstGeom prst="line">
            <a:avLst/>
          </a:prstGeom>
          <a:noFill/>
          <a:ln w="22860">
            <a:solidFill>
              <a:srgbClr val="1B6B73"/>
            </a:solidFill>
            <a:prstDash val="solid"/>
            <a:headEnd type="none"/>
            <a:tailEnd type="triangle"/>
          </a:ln>
        </p:spPr>
      </p:sp>
      <p:sp>
        <p:nvSpPr>
          <p:cNvPr id="8" name="Shape 6"/>
          <p:cNvSpPr/>
          <p:nvPr/>
        </p:nvSpPr>
        <p:spPr>
          <a:xfrm>
            <a:off x="4251960" y="1783080"/>
            <a:ext cx="2011680" cy="713232"/>
          </a:xfrm>
          <a:prstGeom prst="roundRect">
            <a:avLst>
              <a:gd name="adj" fmla="val 10256"/>
            </a:avLst>
          </a:prstGeom>
          <a:solidFill>
            <a:srgbClr val="F0F6F6"/>
          </a:solidFill>
          <a:ln w="12700">
            <a:solidFill>
              <a:srgbClr val="D8E0E5"/>
            </a:solidFill>
            <a:prstDash val="solid"/>
          </a:ln>
        </p:spPr>
      </p:sp>
      <p:sp>
        <p:nvSpPr>
          <p:cNvPr id="9" name="Text 7"/>
          <p:cNvSpPr/>
          <p:nvPr/>
        </p:nvSpPr>
        <p:spPr>
          <a:xfrm>
            <a:off x="4361688" y="202082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EHR integration</a:t>
            </a:r>
            <a:endParaRPr lang="en-US" sz="930" dirty="0"/>
          </a:p>
        </p:txBody>
      </p:sp>
      <p:sp>
        <p:nvSpPr>
          <p:cNvPr id="10" name="Shape 8"/>
          <p:cNvSpPr/>
          <p:nvPr/>
        </p:nvSpPr>
        <p:spPr>
          <a:xfrm>
            <a:off x="6263640" y="2139696"/>
            <a:ext cx="256032" cy="0"/>
          </a:xfrm>
          <a:prstGeom prst="line">
            <a:avLst/>
          </a:prstGeom>
          <a:noFill/>
          <a:ln w="22860">
            <a:solidFill>
              <a:srgbClr val="1B6B73"/>
            </a:solidFill>
            <a:prstDash val="solid"/>
            <a:headEnd type="none"/>
            <a:tailEnd type="triangle"/>
          </a:ln>
        </p:spPr>
      </p:sp>
      <p:sp>
        <p:nvSpPr>
          <p:cNvPr id="11" name="Shape 9"/>
          <p:cNvSpPr/>
          <p:nvPr/>
        </p:nvSpPr>
        <p:spPr>
          <a:xfrm>
            <a:off x="6583680" y="1783080"/>
            <a:ext cx="2011680" cy="713232"/>
          </a:xfrm>
          <a:prstGeom prst="roundRect">
            <a:avLst>
              <a:gd name="adj" fmla="val 10256"/>
            </a:avLst>
          </a:prstGeom>
          <a:solidFill>
            <a:srgbClr val="F0F6F6"/>
          </a:solidFill>
          <a:ln w="12700">
            <a:solidFill>
              <a:srgbClr val="D8E0E5"/>
            </a:solidFill>
            <a:prstDash val="solid"/>
          </a:ln>
        </p:spPr>
      </p:sp>
      <p:sp>
        <p:nvSpPr>
          <p:cNvPr id="12" name="Text 10"/>
          <p:cNvSpPr/>
          <p:nvPr/>
        </p:nvSpPr>
        <p:spPr>
          <a:xfrm>
            <a:off x="6693408" y="202082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Healthcare AI + data</a:t>
            </a:r>
            <a:endParaRPr lang="en-US" sz="930" dirty="0"/>
          </a:p>
        </p:txBody>
      </p:sp>
      <p:sp>
        <p:nvSpPr>
          <p:cNvPr id="13" name="Shape 11"/>
          <p:cNvSpPr/>
          <p:nvPr/>
        </p:nvSpPr>
        <p:spPr>
          <a:xfrm>
            <a:off x="8595360" y="2139696"/>
            <a:ext cx="256032" cy="0"/>
          </a:xfrm>
          <a:prstGeom prst="line">
            <a:avLst/>
          </a:prstGeom>
          <a:noFill/>
          <a:ln w="22860">
            <a:solidFill>
              <a:srgbClr val="1B6B73"/>
            </a:solidFill>
            <a:prstDash val="solid"/>
            <a:headEnd type="none"/>
            <a:tailEnd type="triangle"/>
          </a:ln>
        </p:spPr>
      </p:sp>
      <p:sp>
        <p:nvSpPr>
          <p:cNvPr id="14" name="Shape 12"/>
          <p:cNvSpPr/>
          <p:nvPr/>
        </p:nvSpPr>
        <p:spPr>
          <a:xfrm>
            <a:off x="8915400" y="1783080"/>
            <a:ext cx="2011680" cy="713232"/>
          </a:xfrm>
          <a:prstGeom prst="roundRect">
            <a:avLst>
              <a:gd name="adj" fmla="val 10256"/>
            </a:avLst>
          </a:prstGeom>
          <a:solidFill>
            <a:srgbClr val="F0F6F6"/>
          </a:solidFill>
          <a:ln w="12700">
            <a:solidFill>
              <a:srgbClr val="D8E0E5"/>
            </a:solidFill>
            <a:prstDash val="solid"/>
          </a:ln>
        </p:spPr>
      </p:sp>
      <p:sp>
        <p:nvSpPr>
          <p:cNvPr id="15" name="Text 13"/>
          <p:cNvSpPr/>
          <p:nvPr/>
        </p:nvSpPr>
        <p:spPr>
          <a:xfrm>
            <a:off x="9025128" y="202082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Managed infrastructure</a:t>
            </a:r>
            <a:endParaRPr lang="en-US" sz="930" dirty="0"/>
          </a:p>
        </p:txBody>
      </p:sp>
      <p:sp>
        <p:nvSpPr>
          <p:cNvPr id="16" name="Text 14"/>
          <p:cNvSpPr/>
          <p:nvPr/>
        </p:nvSpPr>
        <p:spPr>
          <a:xfrm>
            <a:off x="685800" y="3346704"/>
            <a:ext cx="1188720" cy="228600"/>
          </a:xfrm>
          <a:prstGeom prst="rect">
            <a:avLst/>
          </a:prstGeom>
          <a:noFill/>
          <a:ln/>
        </p:spPr>
        <p:txBody>
          <a:bodyPr wrap="square" lIns="0" tIns="0" rIns="0" bIns="0" rtlCol="0" anchor="ctr"/>
          <a:lstStyle/>
          <a:p>
            <a:pPr indent="0" marL="0">
              <a:buNone/>
            </a:pPr>
            <a:r>
              <a:rPr lang="en-US" sz="1300" b="1" dirty="0">
                <a:solidFill>
                  <a:srgbClr val="17324D"/>
                </a:solidFill>
              </a:rPr>
              <a:t>Regure</a:t>
            </a:r>
            <a:endParaRPr lang="en-US" sz="1300" dirty="0"/>
          </a:p>
        </p:txBody>
      </p:sp>
      <p:sp>
        <p:nvSpPr>
          <p:cNvPr id="17" name="Shape 15"/>
          <p:cNvSpPr/>
          <p:nvPr/>
        </p:nvSpPr>
        <p:spPr>
          <a:xfrm>
            <a:off x="1920240" y="3108960"/>
            <a:ext cx="2011680" cy="713232"/>
          </a:xfrm>
          <a:prstGeom prst="roundRect">
            <a:avLst>
              <a:gd name="adj" fmla="val 10256"/>
            </a:avLst>
          </a:prstGeom>
          <a:solidFill>
            <a:srgbClr val="FFFFFF"/>
          </a:solidFill>
          <a:ln w="12700">
            <a:solidFill>
              <a:srgbClr val="D8E0E5"/>
            </a:solidFill>
            <a:prstDash val="solid"/>
          </a:ln>
        </p:spPr>
      </p:sp>
      <p:sp>
        <p:nvSpPr>
          <p:cNvPr id="18" name="Text 16"/>
          <p:cNvSpPr/>
          <p:nvPr/>
        </p:nvSpPr>
        <p:spPr>
          <a:xfrm>
            <a:off x="2029968" y="3346704"/>
            <a:ext cx="1792224" cy="201168"/>
          </a:xfrm>
          <a:prstGeom prst="rect">
            <a:avLst/>
          </a:prstGeom>
          <a:noFill/>
          <a:ln/>
        </p:spPr>
        <p:txBody>
          <a:bodyPr wrap="square" lIns="0" tIns="0" rIns="0" bIns="0" rtlCol="0" anchor="ctr"/>
          <a:lstStyle/>
          <a:p>
            <a:pPr algn="ctr" indent="0" marL="0">
              <a:buNone/>
            </a:pPr>
            <a:r>
              <a:rPr lang="en-US" sz="930" b="1" dirty="0">
                <a:solidFill>
                  <a:srgbClr val="44546A"/>
                </a:solidFill>
              </a:rPr>
              <a:t>Claims workflow</a:t>
            </a:r>
            <a:endParaRPr lang="en-US" sz="930" dirty="0"/>
          </a:p>
        </p:txBody>
      </p:sp>
      <p:sp>
        <p:nvSpPr>
          <p:cNvPr id="19" name="Shape 17"/>
          <p:cNvSpPr/>
          <p:nvPr/>
        </p:nvSpPr>
        <p:spPr>
          <a:xfrm>
            <a:off x="3931920" y="3465576"/>
            <a:ext cx="256032" cy="0"/>
          </a:xfrm>
          <a:prstGeom prst="line">
            <a:avLst/>
          </a:prstGeom>
          <a:noFill/>
          <a:ln w="22860">
            <a:solidFill>
              <a:srgbClr val="1B6B73"/>
            </a:solidFill>
            <a:prstDash val="solid"/>
            <a:headEnd type="none"/>
            <a:tailEnd type="triangle"/>
          </a:ln>
        </p:spPr>
      </p:sp>
      <p:sp>
        <p:nvSpPr>
          <p:cNvPr id="20" name="Shape 18"/>
          <p:cNvSpPr/>
          <p:nvPr/>
        </p:nvSpPr>
        <p:spPr>
          <a:xfrm>
            <a:off x="4251960" y="3108960"/>
            <a:ext cx="2011680" cy="713232"/>
          </a:xfrm>
          <a:prstGeom prst="roundRect">
            <a:avLst>
              <a:gd name="adj" fmla="val 10256"/>
            </a:avLst>
          </a:prstGeom>
          <a:solidFill>
            <a:srgbClr val="F0F6F6"/>
          </a:solidFill>
          <a:ln w="12700">
            <a:solidFill>
              <a:srgbClr val="D8E0E5"/>
            </a:solidFill>
            <a:prstDash val="solid"/>
          </a:ln>
        </p:spPr>
      </p:sp>
      <p:sp>
        <p:nvSpPr>
          <p:cNvPr id="21" name="Text 19"/>
          <p:cNvSpPr/>
          <p:nvPr/>
        </p:nvSpPr>
        <p:spPr>
          <a:xfrm>
            <a:off x="4361688" y="334670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Core integration</a:t>
            </a:r>
            <a:endParaRPr lang="en-US" sz="930" dirty="0"/>
          </a:p>
        </p:txBody>
      </p:sp>
      <p:sp>
        <p:nvSpPr>
          <p:cNvPr id="22" name="Shape 20"/>
          <p:cNvSpPr/>
          <p:nvPr/>
        </p:nvSpPr>
        <p:spPr>
          <a:xfrm>
            <a:off x="6263640" y="3465576"/>
            <a:ext cx="256032" cy="0"/>
          </a:xfrm>
          <a:prstGeom prst="line">
            <a:avLst/>
          </a:prstGeom>
          <a:noFill/>
          <a:ln w="22860">
            <a:solidFill>
              <a:srgbClr val="1B6B73"/>
            </a:solidFill>
            <a:prstDash val="solid"/>
            <a:headEnd type="none"/>
            <a:tailEnd type="triangle"/>
          </a:ln>
        </p:spPr>
      </p:sp>
      <p:sp>
        <p:nvSpPr>
          <p:cNvPr id="23" name="Shape 21"/>
          <p:cNvSpPr/>
          <p:nvPr/>
        </p:nvSpPr>
        <p:spPr>
          <a:xfrm>
            <a:off x="6583680" y="3108960"/>
            <a:ext cx="2011680" cy="713232"/>
          </a:xfrm>
          <a:prstGeom prst="roundRect">
            <a:avLst>
              <a:gd name="adj" fmla="val 10256"/>
            </a:avLst>
          </a:prstGeom>
          <a:solidFill>
            <a:srgbClr val="F0F6F6"/>
          </a:solidFill>
          <a:ln w="12700">
            <a:solidFill>
              <a:srgbClr val="D8E0E5"/>
            </a:solidFill>
            <a:prstDash val="solid"/>
          </a:ln>
        </p:spPr>
      </p:sp>
      <p:sp>
        <p:nvSpPr>
          <p:cNvPr id="24" name="Text 22"/>
          <p:cNvSpPr/>
          <p:nvPr/>
        </p:nvSpPr>
        <p:spPr>
          <a:xfrm>
            <a:off x="6693408" y="334670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Insurance AI + compliance</a:t>
            </a:r>
            <a:endParaRPr lang="en-US" sz="930" dirty="0"/>
          </a:p>
        </p:txBody>
      </p:sp>
      <p:sp>
        <p:nvSpPr>
          <p:cNvPr id="25" name="Shape 23"/>
          <p:cNvSpPr/>
          <p:nvPr/>
        </p:nvSpPr>
        <p:spPr>
          <a:xfrm>
            <a:off x="8595360" y="3465576"/>
            <a:ext cx="256032" cy="0"/>
          </a:xfrm>
          <a:prstGeom prst="line">
            <a:avLst/>
          </a:prstGeom>
          <a:noFill/>
          <a:ln w="22860">
            <a:solidFill>
              <a:srgbClr val="1B6B73"/>
            </a:solidFill>
            <a:prstDash val="solid"/>
            <a:headEnd type="none"/>
            <a:tailEnd type="triangle"/>
          </a:ln>
        </p:spPr>
      </p:sp>
      <p:sp>
        <p:nvSpPr>
          <p:cNvPr id="26" name="Shape 24"/>
          <p:cNvSpPr/>
          <p:nvPr/>
        </p:nvSpPr>
        <p:spPr>
          <a:xfrm>
            <a:off x="8915400" y="3108960"/>
            <a:ext cx="2011680" cy="713232"/>
          </a:xfrm>
          <a:prstGeom prst="roundRect">
            <a:avLst>
              <a:gd name="adj" fmla="val 10256"/>
            </a:avLst>
          </a:prstGeom>
          <a:solidFill>
            <a:srgbClr val="F0F6F6"/>
          </a:solidFill>
          <a:ln w="12700">
            <a:solidFill>
              <a:srgbClr val="D8E0E5"/>
            </a:solidFill>
            <a:prstDash val="solid"/>
          </a:ln>
        </p:spPr>
      </p:sp>
      <p:sp>
        <p:nvSpPr>
          <p:cNvPr id="27" name="Text 25"/>
          <p:cNvSpPr/>
          <p:nvPr/>
        </p:nvSpPr>
        <p:spPr>
          <a:xfrm>
            <a:off x="9025128" y="334670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Cloud operations</a:t>
            </a:r>
            <a:endParaRPr lang="en-US" sz="930" dirty="0"/>
          </a:p>
        </p:txBody>
      </p:sp>
      <p:sp>
        <p:nvSpPr>
          <p:cNvPr id="28" name="Text 26"/>
          <p:cNvSpPr/>
          <p:nvPr/>
        </p:nvSpPr>
        <p:spPr>
          <a:xfrm>
            <a:off x="685800" y="4672584"/>
            <a:ext cx="1188720" cy="228600"/>
          </a:xfrm>
          <a:prstGeom prst="rect">
            <a:avLst/>
          </a:prstGeom>
          <a:noFill/>
          <a:ln/>
        </p:spPr>
        <p:txBody>
          <a:bodyPr wrap="square" lIns="0" tIns="0" rIns="0" bIns="0" rtlCol="0" anchor="ctr"/>
          <a:lstStyle/>
          <a:p>
            <a:pPr indent="0" marL="0">
              <a:buNone/>
            </a:pPr>
            <a:r>
              <a:rPr lang="en-US" sz="1300" b="1" dirty="0">
                <a:solidFill>
                  <a:srgbClr val="17324D"/>
                </a:solidFill>
              </a:rPr>
              <a:t>SentienGuard</a:t>
            </a:r>
            <a:endParaRPr lang="en-US" sz="1300" dirty="0"/>
          </a:p>
        </p:txBody>
      </p:sp>
      <p:sp>
        <p:nvSpPr>
          <p:cNvPr id="29" name="Shape 27"/>
          <p:cNvSpPr/>
          <p:nvPr/>
        </p:nvSpPr>
        <p:spPr>
          <a:xfrm>
            <a:off x="1920240" y="4434840"/>
            <a:ext cx="2011680" cy="713232"/>
          </a:xfrm>
          <a:prstGeom prst="roundRect">
            <a:avLst>
              <a:gd name="adj" fmla="val 10256"/>
            </a:avLst>
          </a:prstGeom>
          <a:solidFill>
            <a:srgbClr val="FFFFFF"/>
          </a:solidFill>
          <a:ln w="12700">
            <a:solidFill>
              <a:srgbClr val="D8E0E5"/>
            </a:solidFill>
            <a:prstDash val="solid"/>
          </a:ln>
        </p:spPr>
      </p:sp>
      <p:sp>
        <p:nvSpPr>
          <p:cNvPr id="30" name="Text 28"/>
          <p:cNvSpPr/>
          <p:nvPr/>
        </p:nvSpPr>
        <p:spPr>
          <a:xfrm>
            <a:off x="2029968" y="4672584"/>
            <a:ext cx="1792224" cy="201168"/>
          </a:xfrm>
          <a:prstGeom prst="rect">
            <a:avLst/>
          </a:prstGeom>
          <a:noFill/>
          <a:ln/>
        </p:spPr>
        <p:txBody>
          <a:bodyPr wrap="square" lIns="0" tIns="0" rIns="0" bIns="0" rtlCol="0" anchor="ctr"/>
          <a:lstStyle/>
          <a:p>
            <a:pPr algn="ctr" indent="0" marL="0">
              <a:buNone/>
            </a:pPr>
            <a:r>
              <a:rPr lang="en-US" sz="930" b="1" dirty="0">
                <a:solidFill>
                  <a:srgbClr val="44546A"/>
                </a:solidFill>
              </a:rPr>
              <a:t>Free / Team</a:t>
            </a:r>
            <a:endParaRPr lang="en-US" sz="930" dirty="0"/>
          </a:p>
        </p:txBody>
      </p:sp>
      <p:sp>
        <p:nvSpPr>
          <p:cNvPr id="31" name="Shape 29"/>
          <p:cNvSpPr/>
          <p:nvPr/>
        </p:nvSpPr>
        <p:spPr>
          <a:xfrm>
            <a:off x="3931920" y="4791456"/>
            <a:ext cx="256032" cy="0"/>
          </a:xfrm>
          <a:prstGeom prst="line">
            <a:avLst/>
          </a:prstGeom>
          <a:noFill/>
          <a:ln w="22860">
            <a:solidFill>
              <a:srgbClr val="1B6B73"/>
            </a:solidFill>
            <a:prstDash val="solid"/>
            <a:headEnd type="none"/>
            <a:tailEnd type="triangle"/>
          </a:ln>
        </p:spPr>
      </p:sp>
      <p:sp>
        <p:nvSpPr>
          <p:cNvPr id="32" name="Shape 30"/>
          <p:cNvSpPr/>
          <p:nvPr/>
        </p:nvSpPr>
        <p:spPr>
          <a:xfrm>
            <a:off x="4251960" y="4434840"/>
            <a:ext cx="2011680" cy="713232"/>
          </a:xfrm>
          <a:prstGeom prst="roundRect">
            <a:avLst>
              <a:gd name="adj" fmla="val 10256"/>
            </a:avLst>
          </a:prstGeom>
          <a:solidFill>
            <a:srgbClr val="F0F6F6"/>
          </a:solidFill>
          <a:ln w="12700">
            <a:solidFill>
              <a:srgbClr val="D8E0E5"/>
            </a:solidFill>
            <a:prstDash val="solid"/>
          </a:ln>
        </p:spPr>
      </p:sp>
      <p:sp>
        <p:nvSpPr>
          <p:cNvPr id="33" name="Text 31"/>
          <p:cNvSpPr/>
          <p:nvPr/>
        </p:nvSpPr>
        <p:spPr>
          <a:xfrm>
            <a:off x="4361688" y="467258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Fleet</a:t>
            </a:r>
            <a:endParaRPr lang="en-US" sz="930" dirty="0"/>
          </a:p>
        </p:txBody>
      </p:sp>
      <p:sp>
        <p:nvSpPr>
          <p:cNvPr id="34" name="Shape 32"/>
          <p:cNvSpPr/>
          <p:nvPr/>
        </p:nvSpPr>
        <p:spPr>
          <a:xfrm>
            <a:off x="6263640" y="4791456"/>
            <a:ext cx="256032" cy="0"/>
          </a:xfrm>
          <a:prstGeom prst="line">
            <a:avLst/>
          </a:prstGeom>
          <a:noFill/>
          <a:ln w="22860">
            <a:solidFill>
              <a:srgbClr val="1B6B73"/>
            </a:solidFill>
            <a:prstDash val="solid"/>
            <a:headEnd type="none"/>
            <a:tailEnd type="triangle"/>
          </a:ln>
        </p:spPr>
      </p:sp>
      <p:sp>
        <p:nvSpPr>
          <p:cNvPr id="35" name="Shape 33"/>
          <p:cNvSpPr/>
          <p:nvPr/>
        </p:nvSpPr>
        <p:spPr>
          <a:xfrm>
            <a:off x="6583680" y="4434840"/>
            <a:ext cx="2011680" cy="713232"/>
          </a:xfrm>
          <a:prstGeom prst="roundRect">
            <a:avLst>
              <a:gd name="adj" fmla="val 10256"/>
            </a:avLst>
          </a:prstGeom>
          <a:solidFill>
            <a:srgbClr val="F0F6F6"/>
          </a:solidFill>
          <a:ln w="12700">
            <a:solidFill>
              <a:srgbClr val="D8E0E5"/>
            </a:solidFill>
            <a:prstDash val="solid"/>
          </a:ln>
        </p:spPr>
      </p:sp>
      <p:sp>
        <p:nvSpPr>
          <p:cNvPr id="36" name="Text 34"/>
          <p:cNvSpPr/>
          <p:nvPr/>
        </p:nvSpPr>
        <p:spPr>
          <a:xfrm>
            <a:off x="6693408" y="467258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Self-healing + cloud engineering</a:t>
            </a:r>
            <a:endParaRPr lang="en-US" sz="930" dirty="0"/>
          </a:p>
        </p:txBody>
      </p:sp>
      <p:sp>
        <p:nvSpPr>
          <p:cNvPr id="37" name="Shape 35"/>
          <p:cNvSpPr/>
          <p:nvPr/>
        </p:nvSpPr>
        <p:spPr>
          <a:xfrm>
            <a:off x="8595360" y="4791456"/>
            <a:ext cx="256032" cy="0"/>
          </a:xfrm>
          <a:prstGeom prst="line">
            <a:avLst/>
          </a:prstGeom>
          <a:noFill/>
          <a:ln w="22860">
            <a:solidFill>
              <a:srgbClr val="1B6B73"/>
            </a:solidFill>
            <a:prstDash val="solid"/>
            <a:headEnd type="none"/>
            <a:tailEnd type="triangle"/>
          </a:ln>
        </p:spPr>
      </p:sp>
      <p:sp>
        <p:nvSpPr>
          <p:cNvPr id="38" name="Shape 36"/>
          <p:cNvSpPr/>
          <p:nvPr/>
        </p:nvSpPr>
        <p:spPr>
          <a:xfrm>
            <a:off x="8915400" y="4434840"/>
            <a:ext cx="2011680" cy="713232"/>
          </a:xfrm>
          <a:prstGeom prst="roundRect">
            <a:avLst>
              <a:gd name="adj" fmla="val 10256"/>
            </a:avLst>
          </a:prstGeom>
          <a:solidFill>
            <a:srgbClr val="F0F6F6"/>
          </a:solidFill>
          <a:ln w="12700">
            <a:solidFill>
              <a:srgbClr val="D8E0E5"/>
            </a:solidFill>
            <a:prstDash val="solid"/>
          </a:ln>
        </p:spPr>
      </p:sp>
      <p:sp>
        <p:nvSpPr>
          <p:cNvPr id="39" name="Text 37"/>
          <p:cNvSpPr/>
          <p:nvPr/>
        </p:nvSpPr>
        <p:spPr>
          <a:xfrm>
            <a:off x="9025128" y="4672584"/>
            <a:ext cx="1792224" cy="201168"/>
          </a:xfrm>
          <a:prstGeom prst="rect">
            <a:avLst/>
          </a:prstGeom>
          <a:noFill/>
          <a:ln/>
        </p:spPr>
        <p:txBody>
          <a:bodyPr wrap="square" lIns="0" tIns="0" rIns="0" bIns="0" rtlCol="0" anchor="ctr"/>
          <a:lstStyle/>
          <a:p>
            <a:pPr algn="ctr" indent="0" marL="0">
              <a:buNone/>
            </a:pPr>
            <a:r>
              <a:rPr lang="en-US" sz="930" b="1" dirty="0">
                <a:solidFill>
                  <a:srgbClr val="1B6B73"/>
                </a:solidFill>
              </a:rPr>
              <a:t>Managed operations</a:t>
            </a:r>
            <a:endParaRPr lang="en-US" sz="930" dirty="0"/>
          </a:p>
        </p:txBody>
      </p:sp>
      <p:sp>
        <p:nvSpPr>
          <p:cNvPr id="40" name="Shape 38"/>
          <p:cNvSpPr/>
          <p:nvPr/>
        </p:nvSpPr>
        <p:spPr>
          <a:xfrm>
            <a:off x="1371600" y="5806440"/>
            <a:ext cx="9235440" cy="502920"/>
          </a:xfrm>
          <a:prstGeom prst="roundRect">
            <a:avLst>
              <a:gd name="adj" fmla="val 14545"/>
            </a:avLst>
          </a:prstGeom>
          <a:solidFill>
            <a:srgbClr val="EEF3F6"/>
          </a:solidFill>
          <a:ln w="12700">
            <a:solidFill>
              <a:srgbClr val="D8E0E5"/>
            </a:solidFill>
            <a:prstDash val="solid"/>
          </a:ln>
        </p:spPr>
      </p:sp>
      <p:sp>
        <p:nvSpPr>
          <p:cNvPr id="41" name="Text 39"/>
          <p:cNvSpPr/>
          <p:nvPr/>
        </p:nvSpPr>
        <p:spPr>
          <a:xfrm>
            <a:off x="1600200" y="5971032"/>
            <a:ext cx="8778240" cy="182880"/>
          </a:xfrm>
          <a:prstGeom prst="rect">
            <a:avLst/>
          </a:prstGeom>
          <a:noFill/>
          <a:ln/>
        </p:spPr>
        <p:txBody>
          <a:bodyPr wrap="square" lIns="0" tIns="0" rIns="0" bIns="0" rtlCol="0" anchor="ctr"/>
          <a:lstStyle/>
          <a:p>
            <a:pPr algn="ctr" indent="0" marL="0">
              <a:buNone/>
            </a:pPr>
            <a:r>
              <a:rPr lang="en-US" sz="1080" b="1" dirty="0">
                <a:solidFill>
                  <a:srgbClr val="17324D"/>
                </a:solidFill>
              </a:rPr>
              <a:t>Cross-sell only when implementation, data or customer growth exposes the next legitimate business problem.</a:t>
            </a:r>
            <a:endParaRPr lang="en-US" sz="108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08 | WHAT I WOULD OWN</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Commercial ownership from market signal to account growth</a:t>
            </a:r>
            <a:endParaRPr lang="en-US" sz="2500" dirty="0"/>
          </a:p>
        </p:txBody>
      </p:sp>
      <p:sp>
        <p:nvSpPr>
          <p:cNvPr id="4" name="Text 2"/>
          <p:cNvSpPr/>
          <p:nvPr/>
        </p:nvSpPr>
        <p:spPr>
          <a:xfrm>
            <a:off x="640080" y="1261872"/>
            <a:ext cx="10515600" cy="475488"/>
          </a:xfrm>
          <a:prstGeom prst="rect">
            <a:avLst/>
          </a:prstGeom>
          <a:noFill/>
          <a:ln/>
        </p:spPr>
        <p:txBody>
          <a:bodyPr wrap="square" lIns="0" tIns="0" rIns="0" bIns="0" rtlCol="0" anchor="ctr"/>
          <a:lstStyle/>
          <a:p>
            <a:pPr indent="0" marL="0">
              <a:buNone/>
            </a:pPr>
            <a:r>
              <a:rPr lang="en-US" sz="1150" dirty="0">
                <a:solidFill>
                  <a:srgbClr val="44546A"/>
                </a:solidFill>
              </a:rPr>
              <a:t>Not appointment setting. Not feature pitching. End-to-end commercial responsibility.</a:t>
            </a:r>
            <a:endParaRPr lang="en-US" sz="1150" dirty="0"/>
          </a:p>
        </p:txBody>
      </p:sp>
      <p:sp>
        <p:nvSpPr>
          <p:cNvPr id="5" name="Shape 3"/>
          <p:cNvSpPr/>
          <p:nvPr/>
        </p:nvSpPr>
        <p:spPr>
          <a:xfrm>
            <a:off x="731520" y="1783080"/>
            <a:ext cx="1874520" cy="685800"/>
          </a:xfrm>
          <a:prstGeom prst="roundRect">
            <a:avLst>
              <a:gd name="adj" fmla="val 10667"/>
            </a:avLst>
          </a:prstGeom>
          <a:solidFill>
            <a:srgbClr val="DDEFEF"/>
          </a:solidFill>
          <a:ln w="12700">
            <a:solidFill>
              <a:srgbClr val="D8E0E5"/>
            </a:solidFill>
            <a:prstDash val="solid"/>
          </a:ln>
        </p:spPr>
      </p:sp>
      <p:sp>
        <p:nvSpPr>
          <p:cNvPr id="6" name="Text 4"/>
          <p:cNvSpPr/>
          <p:nvPr/>
        </p:nvSpPr>
        <p:spPr>
          <a:xfrm>
            <a:off x="841248" y="1993392"/>
            <a:ext cx="1664208" cy="256032"/>
          </a:xfrm>
          <a:prstGeom prst="rect">
            <a:avLst/>
          </a:prstGeom>
          <a:noFill/>
          <a:ln/>
        </p:spPr>
        <p:txBody>
          <a:bodyPr wrap="square" lIns="0" tIns="0" rIns="0" bIns="0" rtlCol="0" anchor="ctr">
            <a:normAutofit/>
          </a:bodyPr>
          <a:lstStyle/>
          <a:p>
            <a:pPr algn="ctr" indent="0" marL="0">
              <a:buNone/>
            </a:pPr>
            <a:r>
              <a:rPr lang="en-US" sz="920" b="1" dirty="0">
                <a:solidFill>
                  <a:srgbClr val="17324D"/>
                </a:solidFill>
              </a:rPr>
              <a:t>Market Strategy</a:t>
            </a:r>
            <a:endParaRPr lang="en-US" sz="920" dirty="0"/>
          </a:p>
        </p:txBody>
      </p:sp>
      <p:sp>
        <p:nvSpPr>
          <p:cNvPr id="7" name="Shape 5"/>
          <p:cNvSpPr/>
          <p:nvPr/>
        </p:nvSpPr>
        <p:spPr>
          <a:xfrm>
            <a:off x="2606040" y="2130552"/>
            <a:ext cx="265176" cy="0"/>
          </a:xfrm>
          <a:prstGeom prst="line">
            <a:avLst/>
          </a:prstGeom>
          <a:noFill/>
          <a:ln w="22860">
            <a:solidFill>
              <a:srgbClr val="1B6B73"/>
            </a:solidFill>
            <a:prstDash val="solid"/>
            <a:headEnd type="none"/>
            <a:tailEnd type="triangle"/>
          </a:ln>
        </p:spPr>
      </p:sp>
      <p:sp>
        <p:nvSpPr>
          <p:cNvPr id="8" name="Shape 6"/>
          <p:cNvSpPr/>
          <p:nvPr/>
        </p:nvSpPr>
        <p:spPr>
          <a:xfrm>
            <a:off x="2971800" y="1783080"/>
            <a:ext cx="1874520" cy="685800"/>
          </a:xfrm>
          <a:prstGeom prst="roundRect">
            <a:avLst>
              <a:gd name="adj" fmla="val 10667"/>
            </a:avLst>
          </a:prstGeom>
          <a:solidFill>
            <a:srgbClr val="FFFFFF"/>
          </a:solidFill>
          <a:ln w="12700">
            <a:solidFill>
              <a:srgbClr val="D8E0E5"/>
            </a:solidFill>
            <a:prstDash val="solid"/>
          </a:ln>
        </p:spPr>
      </p:sp>
      <p:sp>
        <p:nvSpPr>
          <p:cNvPr id="9" name="Text 7"/>
          <p:cNvSpPr/>
          <p:nvPr/>
        </p:nvSpPr>
        <p:spPr>
          <a:xfrm>
            <a:off x="3081528" y="1993392"/>
            <a:ext cx="1664208" cy="256032"/>
          </a:xfrm>
          <a:prstGeom prst="rect">
            <a:avLst/>
          </a:prstGeom>
          <a:noFill/>
          <a:ln/>
        </p:spPr>
        <p:txBody>
          <a:bodyPr wrap="square" lIns="0" tIns="0" rIns="0" bIns="0" rtlCol="0" anchor="ctr">
            <a:normAutofit/>
          </a:bodyPr>
          <a:lstStyle/>
          <a:p>
            <a:pPr algn="ctr" indent="0" marL="0">
              <a:buNone/>
            </a:pPr>
            <a:r>
              <a:rPr lang="en-US" sz="920" b="1" dirty="0">
                <a:solidFill>
                  <a:srgbClr val="17324D"/>
                </a:solidFill>
              </a:rPr>
              <a:t>ICP + Account Intelligence</a:t>
            </a:r>
            <a:endParaRPr lang="en-US" sz="920" dirty="0"/>
          </a:p>
        </p:txBody>
      </p:sp>
      <p:sp>
        <p:nvSpPr>
          <p:cNvPr id="10" name="Shape 8"/>
          <p:cNvSpPr/>
          <p:nvPr/>
        </p:nvSpPr>
        <p:spPr>
          <a:xfrm>
            <a:off x="4846320" y="2130552"/>
            <a:ext cx="265176" cy="0"/>
          </a:xfrm>
          <a:prstGeom prst="line">
            <a:avLst/>
          </a:prstGeom>
          <a:noFill/>
          <a:ln w="22860">
            <a:solidFill>
              <a:srgbClr val="1B6B73"/>
            </a:solidFill>
            <a:prstDash val="solid"/>
            <a:headEnd type="none"/>
            <a:tailEnd type="triangle"/>
          </a:ln>
        </p:spPr>
      </p:sp>
      <p:sp>
        <p:nvSpPr>
          <p:cNvPr id="11" name="Shape 9"/>
          <p:cNvSpPr/>
          <p:nvPr/>
        </p:nvSpPr>
        <p:spPr>
          <a:xfrm>
            <a:off x="5212080" y="1783080"/>
            <a:ext cx="1874520" cy="685800"/>
          </a:xfrm>
          <a:prstGeom prst="roundRect">
            <a:avLst>
              <a:gd name="adj" fmla="val 10667"/>
            </a:avLst>
          </a:prstGeom>
          <a:solidFill>
            <a:srgbClr val="FFFFFF"/>
          </a:solidFill>
          <a:ln w="12700">
            <a:solidFill>
              <a:srgbClr val="D8E0E5"/>
            </a:solidFill>
            <a:prstDash val="solid"/>
          </a:ln>
        </p:spPr>
      </p:sp>
      <p:sp>
        <p:nvSpPr>
          <p:cNvPr id="12" name="Text 10"/>
          <p:cNvSpPr/>
          <p:nvPr/>
        </p:nvSpPr>
        <p:spPr>
          <a:xfrm>
            <a:off x="5321808" y="1993392"/>
            <a:ext cx="1664208" cy="256032"/>
          </a:xfrm>
          <a:prstGeom prst="rect">
            <a:avLst/>
          </a:prstGeom>
          <a:noFill/>
          <a:ln/>
        </p:spPr>
        <p:txBody>
          <a:bodyPr wrap="square" lIns="0" tIns="0" rIns="0" bIns="0" rtlCol="0" anchor="ctr">
            <a:normAutofit/>
          </a:bodyPr>
          <a:lstStyle/>
          <a:p>
            <a:pPr algn="ctr" indent="0" marL="0">
              <a:buNone/>
            </a:pPr>
            <a:r>
              <a:rPr lang="en-US" sz="920" b="1" dirty="0">
                <a:solidFill>
                  <a:srgbClr val="17324D"/>
                </a:solidFill>
              </a:rPr>
              <a:t>Discovery + Business Case</a:t>
            </a:r>
            <a:endParaRPr lang="en-US" sz="920" dirty="0"/>
          </a:p>
        </p:txBody>
      </p:sp>
      <p:sp>
        <p:nvSpPr>
          <p:cNvPr id="13" name="Shape 11"/>
          <p:cNvSpPr/>
          <p:nvPr/>
        </p:nvSpPr>
        <p:spPr>
          <a:xfrm>
            <a:off x="7086600" y="2130552"/>
            <a:ext cx="265176" cy="0"/>
          </a:xfrm>
          <a:prstGeom prst="line">
            <a:avLst/>
          </a:prstGeom>
          <a:noFill/>
          <a:ln w="22860">
            <a:solidFill>
              <a:srgbClr val="1B6B73"/>
            </a:solidFill>
            <a:prstDash val="solid"/>
            <a:headEnd type="none"/>
            <a:tailEnd type="triangle"/>
          </a:ln>
        </p:spPr>
      </p:sp>
      <p:sp>
        <p:nvSpPr>
          <p:cNvPr id="14" name="Shape 12"/>
          <p:cNvSpPr/>
          <p:nvPr/>
        </p:nvSpPr>
        <p:spPr>
          <a:xfrm>
            <a:off x="7452360" y="1783080"/>
            <a:ext cx="1874520" cy="685800"/>
          </a:xfrm>
          <a:prstGeom prst="roundRect">
            <a:avLst>
              <a:gd name="adj" fmla="val 10667"/>
            </a:avLst>
          </a:prstGeom>
          <a:solidFill>
            <a:srgbClr val="FFFFFF"/>
          </a:solidFill>
          <a:ln w="12700">
            <a:solidFill>
              <a:srgbClr val="D8E0E5"/>
            </a:solidFill>
            <a:prstDash val="solid"/>
          </a:ln>
        </p:spPr>
      </p:sp>
      <p:sp>
        <p:nvSpPr>
          <p:cNvPr id="15" name="Text 13"/>
          <p:cNvSpPr/>
          <p:nvPr/>
        </p:nvSpPr>
        <p:spPr>
          <a:xfrm>
            <a:off x="7562088" y="1993392"/>
            <a:ext cx="1664208" cy="256032"/>
          </a:xfrm>
          <a:prstGeom prst="rect">
            <a:avLst/>
          </a:prstGeom>
          <a:noFill/>
          <a:ln/>
        </p:spPr>
        <p:txBody>
          <a:bodyPr wrap="square" lIns="0" tIns="0" rIns="0" bIns="0" rtlCol="0" anchor="ctr">
            <a:normAutofit/>
          </a:bodyPr>
          <a:lstStyle/>
          <a:p>
            <a:pPr algn="ctr" indent="0" marL="0">
              <a:buNone/>
            </a:pPr>
            <a:r>
              <a:rPr lang="en-US" sz="920" b="1" dirty="0">
                <a:solidFill>
                  <a:srgbClr val="17324D"/>
                </a:solidFill>
              </a:rPr>
              <a:t>Proposal + Closure</a:t>
            </a:r>
            <a:endParaRPr lang="en-US" sz="920" dirty="0"/>
          </a:p>
        </p:txBody>
      </p:sp>
      <p:sp>
        <p:nvSpPr>
          <p:cNvPr id="16" name="Shape 14"/>
          <p:cNvSpPr/>
          <p:nvPr/>
        </p:nvSpPr>
        <p:spPr>
          <a:xfrm>
            <a:off x="9326880" y="2130552"/>
            <a:ext cx="265176" cy="0"/>
          </a:xfrm>
          <a:prstGeom prst="line">
            <a:avLst/>
          </a:prstGeom>
          <a:noFill/>
          <a:ln w="22860">
            <a:solidFill>
              <a:srgbClr val="1B6B73"/>
            </a:solidFill>
            <a:prstDash val="solid"/>
            <a:headEnd type="none"/>
            <a:tailEnd type="triangle"/>
          </a:ln>
        </p:spPr>
      </p:sp>
      <p:sp>
        <p:nvSpPr>
          <p:cNvPr id="17" name="Shape 15"/>
          <p:cNvSpPr/>
          <p:nvPr/>
        </p:nvSpPr>
        <p:spPr>
          <a:xfrm>
            <a:off x="9692640" y="1783080"/>
            <a:ext cx="1874520" cy="685800"/>
          </a:xfrm>
          <a:prstGeom prst="roundRect">
            <a:avLst>
              <a:gd name="adj" fmla="val 10667"/>
            </a:avLst>
          </a:prstGeom>
          <a:solidFill>
            <a:srgbClr val="DDEFEF"/>
          </a:solidFill>
          <a:ln w="12700">
            <a:solidFill>
              <a:srgbClr val="D8E0E5"/>
            </a:solidFill>
            <a:prstDash val="solid"/>
          </a:ln>
        </p:spPr>
      </p:sp>
      <p:sp>
        <p:nvSpPr>
          <p:cNvPr id="18" name="Text 16"/>
          <p:cNvSpPr/>
          <p:nvPr/>
        </p:nvSpPr>
        <p:spPr>
          <a:xfrm>
            <a:off x="9802368" y="1993392"/>
            <a:ext cx="1664208" cy="256032"/>
          </a:xfrm>
          <a:prstGeom prst="rect">
            <a:avLst/>
          </a:prstGeom>
          <a:noFill/>
          <a:ln/>
        </p:spPr>
        <p:txBody>
          <a:bodyPr wrap="square" lIns="0" tIns="0" rIns="0" bIns="0" rtlCol="0" anchor="ctr">
            <a:normAutofit/>
          </a:bodyPr>
          <a:lstStyle/>
          <a:p>
            <a:pPr algn="ctr" indent="0" marL="0">
              <a:buNone/>
            </a:pPr>
            <a:r>
              <a:rPr lang="en-US" sz="920" b="1" dirty="0">
                <a:solidFill>
                  <a:srgbClr val="17324D"/>
                </a:solidFill>
              </a:rPr>
              <a:t>Customer Success + Expansion</a:t>
            </a:r>
            <a:endParaRPr lang="en-US" sz="920" dirty="0"/>
          </a:p>
        </p:txBody>
      </p:sp>
      <p:sp>
        <p:nvSpPr>
          <p:cNvPr id="19" name="Text 17"/>
          <p:cNvSpPr/>
          <p:nvPr/>
        </p:nvSpPr>
        <p:spPr>
          <a:xfrm>
            <a:off x="777240" y="2971800"/>
            <a:ext cx="2103120" cy="201168"/>
          </a:xfrm>
          <a:prstGeom prst="rect">
            <a:avLst/>
          </a:prstGeom>
          <a:noFill/>
          <a:ln/>
        </p:spPr>
        <p:txBody>
          <a:bodyPr wrap="square" lIns="0" tIns="0" rIns="0" bIns="0" rtlCol="0" anchor="ctr"/>
          <a:lstStyle/>
          <a:p>
            <a:pPr indent="0" marL="0">
              <a:buNone/>
            </a:pPr>
            <a:r>
              <a:rPr lang="en-US" sz="900" b="1" dirty="0">
                <a:solidFill>
                  <a:srgbClr val="1B6B73"/>
                </a:solidFill>
              </a:rPr>
              <a:t>SELECTED DEAL EVIDENCE</a:t>
            </a:r>
            <a:endParaRPr lang="en-US" sz="900" dirty="0"/>
          </a:p>
        </p:txBody>
      </p:sp>
      <p:sp>
        <p:nvSpPr>
          <p:cNvPr id="20" name="Shape 18"/>
          <p:cNvSpPr/>
          <p:nvPr/>
        </p:nvSpPr>
        <p:spPr>
          <a:xfrm>
            <a:off x="731520" y="3310128"/>
            <a:ext cx="3291840" cy="1389888"/>
          </a:xfrm>
          <a:prstGeom prst="roundRect">
            <a:avLst>
              <a:gd name="adj" fmla="val 5263"/>
            </a:avLst>
          </a:prstGeom>
          <a:solidFill>
            <a:srgbClr val="FFFFFF"/>
          </a:solidFill>
          <a:ln w="12700">
            <a:solidFill>
              <a:srgbClr val="D8E0E5"/>
            </a:solidFill>
            <a:prstDash val="solid"/>
          </a:ln>
        </p:spPr>
      </p:sp>
      <p:sp>
        <p:nvSpPr>
          <p:cNvPr id="21" name="Shape 19"/>
          <p:cNvSpPr/>
          <p:nvPr/>
        </p:nvSpPr>
        <p:spPr>
          <a:xfrm>
            <a:off x="731520" y="3310128"/>
            <a:ext cx="64008" cy="1389888"/>
          </a:xfrm>
          <a:prstGeom prst="rect">
            <a:avLst/>
          </a:prstGeom>
          <a:solidFill>
            <a:srgbClr val="1B6B73"/>
          </a:solidFill>
          <a:ln w="12700">
            <a:solidFill>
              <a:srgbClr val="1B6B73"/>
            </a:solidFill>
            <a:prstDash val="solid"/>
          </a:ln>
        </p:spPr>
      </p:sp>
      <p:sp>
        <p:nvSpPr>
          <p:cNvPr id="22" name="Text 20"/>
          <p:cNvSpPr/>
          <p:nvPr/>
        </p:nvSpPr>
        <p:spPr>
          <a:xfrm>
            <a:off x="914400" y="3456432"/>
            <a:ext cx="2971800" cy="274320"/>
          </a:xfrm>
          <a:prstGeom prst="rect">
            <a:avLst/>
          </a:prstGeom>
          <a:noFill/>
          <a:ln/>
        </p:spPr>
        <p:txBody>
          <a:bodyPr wrap="square" lIns="0" tIns="0" rIns="0" bIns="0" rtlCol="0" anchor="ctr"/>
          <a:lstStyle/>
          <a:p>
            <a:pPr indent="0" marL="0">
              <a:buNone/>
            </a:pPr>
            <a:r>
              <a:rPr lang="en-US" sz="1200" b="1" dirty="0">
                <a:solidFill>
                  <a:srgbClr val="17324D"/>
                </a:solidFill>
              </a:rPr>
              <a:t>Healthcare / Quality SaaS</a:t>
            </a:r>
            <a:endParaRPr lang="en-US" sz="1200" dirty="0"/>
          </a:p>
        </p:txBody>
      </p:sp>
      <p:sp>
        <p:nvSpPr>
          <p:cNvPr id="23" name="Text 21"/>
          <p:cNvSpPr/>
          <p:nvPr/>
        </p:nvSpPr>
        <p:spPr>
          <a:xfrm>
            <a:off x="914400" y="3813048"/>
            <a:ext cx="2999232" cy="749808"/>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LIMS and quality workflows: market research, ICP, discovery, workflow mapping, positioning, implementation coordination, customer feedback and adoption.</a:t>
            </a:r>
            <a:endParaRPr lang="en-US" sz="970" dirty="0"/>
          </a:p>
        </p:txBody>
      </p:sp>
      <p:sp>
        <p:nvSpPr>
          <p:cNvPr id="24" name="Shape 22"/>
          <p:cNvSpPr/>
          <p:nvPr/>
        </p:nvSpPr>
        <p:spPr>
          <a:xfrm>
            <a:off x="4251960" y="3310128"/>
            <a:ext cx="3291840" cy="1389888"/>
          </a:xfrm>
          <a:prstGeom prst="roundRect">
            <a:avLst>
              <a:gd name="adj" fmla="val 5263"/>
            </a:avLst>
          </a:prstGeom>
          <a:solidFill>
            <a:srgbClr val="FFFFFF"/>
          </a:solidFill>
          <a:ln w="12700">
            <a:solidFill>
              <a:srgbClr val="D8E0E5"/>
            </a:solidFill>
            <a:prstDash val="solid"/>
          </a:ln>
        </p:spPr>
      </p:sp>
      <p:sp>
        <p:nvSpPr>
          <p:cNvPr id="25" name="Shape 23"/>
          <p:cNvSpPr/>
          <p:nvPr/>
        </p:nvSpPr>
        <p:spPr>
          <a:xfrm>
            <a:off x="4251960" y="3310128"/>
            <a:ext cx="64008" cy="1389888"/>
          </a:xfrm>
          <a:prstGeom prst="rect">
            <a:avLst/>
          </a:prstGeom>
          <a:solidFill>
            <a:srgbClr val="1B6B73"/>
          </a:solidFill>
          <a:ln w="12700">
            <a:solidFill>
              <a:srgbClr val="1B6B73"/>
            </a:solidFill>
            <a:prstDash val="solid"/>
          </a:ln>
        </p:spPr>
      </p:sp>
      <p:sp>
        <p:nvSpPr>
          <p:cNvPr id="26" name="Text 24"/>
          <p:cNvSpPr/>
          <p:nvPr/>
        </p:nvSpPr>
        <p:spPr>
          <a:xfrm>
            <a:off x="4434840" y="3456432"/>
            <a:ext cx="2971800" cy="274320"/>
          </a:xfrm>
          <a:prstGeom prst="rect">
            <a:avLst/>
          </a:prstGeom>
          <a:noFill/>
          <a:ln/>
        </p:spPr>
        <p:txBody>
          <a:bodyPr wrap="square" lIns="0" tIns="0" rIns="0" bIns="0" rtlCol="0" anchor="ctr"/>
          <a:lstStyle/>
          <a:p>
            <a:pPr indent="0" marL="0">
              <a:buNone/>
            </a:pPr>
            <a:r>
              <a:rPr lang="en-US" sz="1200" b="1" dirty="0">
                <a:solidFill>
                  <a:srgbClr val="17324D"/>
                </a:solidFill>
              </a:rPr>
              <a:t>Insurance / Engineering</a:t>
            </a:r>
            <a:endParaRPr lang="en-US" sz="1200" dirty="0"/>
          </a:p>
        </p:txBody>
      </p:sp>
      <p:sp>
        <p:nvSpPr>
          <p:cNvPr id="27" name="Text 25"/>
          <p:cNvSpPr/>
          <p:nvPr/>
        </p:nvSpPr>
        <p:spPr>
          <a:xfrm>
            <a:off x="4434840" y="3813048"/>
            <a:ext cx="2999232" cy="749808"/>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Guidewire + Java resource augmentation: technical requirements, staffing solution, customer lifecycle and delivery alignment.</a:t>
            </a:r>
            <a:endParaRPr lang="en-US" sz="970" dirty="0"/>
          </a:p>
        </p:txBody>
      </p:sp>
      <p:sp>
        <p:nvSpPr>
          <p:cNvPr id="28" name="Shape 26"/>
          <p:cNvSpPr/>
          <p:nvPr/>
        </p:nvSpPr>
        <p:spPr>
          <a:xfrm>
            <a:off x="7772400" y="3310128"/>
            <a:ext cx="3291840" cy="1389888"/>
          </a:xfrm>
          <a:prstGeom prst="roundRect">
            <a:avLst>
              <a:gd name="adj" fmla="val 5263"/>
            </a:avLst>
          </a:prstGeom>
          <a:solidFill>
            <a:srgbClr val="FFFFFF"/>
          </a:solidFill>
          <a:ln w="12700">
            <a:solidFill>
              <a:srgbClr val="D8E0E5"/>
            </a:solidFill>
            <a:prstDash val="solid"/>
          </a:ln>
        </p:spPr>
      </p:sp>
      <p:sp>
        <p:nvSpPr>
          <p:cNvPr id="29" name="Shape 27"/>
          <p:cNvSpPr/>
          <p:nvPr/>
        </p:nvSpPr>
        <p:spPr>
          <a:xfrm>
            <a:off x="7772400" y="3310128"/>
            <a:ext cx="64008" cy="1389888"/>
          </a:xfrm>
          <a:prstGeom prst="rect">
            <a:avLst/>
          </a:prstGeom>
          <a:solidFill>
            <a:srgbClr val="1B6B73"/>
          </a:solidFill>
          <a:ln w="12700">
            <a:solidFill>
              <a:srgbClr val="1B6B73"/>
            </a:solidFill>
            <a:prstDash val="solid"/>
          </a:ln>
        </p:spPr>
      </p:sp>
      <p:sp>
        <p:nvSpPr>
          <p:cNvPr id="30" name="Text 28"/>
          <p:cNvSpPr/>
          <p:nvPr/>
        </p:nvSpPr>
        <p:spPr>
          <a:xfrm>
            <a:off x="7955280" y="3456432"/>
            <a:ext cx="2971800" cy="274320"/>
          </a:xfrm>
          <a:prstGeom prst="rect">
            <a:avLst/>
          </a:prstGeom>
          <a:noFill/>
          <a:ln/>
        </p:spPr>
        <p:txBody>
          <a:bodyPr wrap="square" lIns="0" tIns="0" rIns="0" bIns="0" rtlCol="0" anchor="ctr"/>
          <a:lstStyle/>
          <a:p>
            <a:pPr indent="0" marL="0">
              <a:buNone/>
            </a:pPr>
            <a:r>
              <a:rPr lang="en-US" sz="1200" b="1" dirty="0">
                <a:solidFill>
                  <a:srgbClr val="17324D"/>
                </a:solidFill>
              </a:rPr>
              <a:t>Digital Products / AI</a:t>
            </a:r>
            <a:endParaRPr lang="en-US" sz="1200" dirty="0"/>
          </a:p>
        </p:txBody>
      </p:sp>
      <p:sp>
        <p:nvSpPr>
          <p:cNvPr id="31" name="Text 29"/>
          <p:cNvSpPr/>
          <p:nvPr/>
        </p:nvSpPr>
        <p:spPr>
          <a:xfrm>
            <a:off x="7955280" y="3813048"/>
            <a:ext cx="2999232" cy="749808"/>
          </a:xfrm>
          <a:prstGeom prst="rect">
            <a:avLst/>
          </a:prstGeom>
          <a:noFill/>
          <a:ln/>
        </p:spPr>
        <p:txBody>
          <a:bodyPr wrap="square" lIns="254" tIns="254" rIns="254" bIns="254" rtlCol="0" anchor="ctr">
            <a:normAutofit/>
          </a:bodyPr>
          <a:lstStyle/>
          <a:p>
            <a:pPr indent="0" marL="0">
              <a:buNone/>
            </a:pPr>
            <a:r>
              <a:rPr lang="en-US" sz="970" dirty="0">
                <a:solidFill>
                  <a:srgbClr val="222222"/>
                </a:solidFill>
              </a:rPr>
              <a:t>B2B marketplace and AI translation: opportunity discovery, product positioning, technical coordination and commercial closure.</a:t>
            </a:r>
            <a:endParaRPr lang="en-US" sz="970" dirty="0"/>
          </a:p>
        </p:txBody>
      </p:sp>
      <p:sp>
        <p:nvSpPr>
          <p:cNvPr id="32" name="Text 30"/>
          <p:cNvSpPr/>
          <p:nvPr/>
        </p:nvSpPr>
        <p:spPr>
          <a:xfrm>
            <a:off x="914400" y="5166360"/>
            <a:ext cx="10058400" cy="457200"/>
          </a:xfrm>
          <a:prstGeom prst="rect">
            <a:avLst/>
          </a:prstGeom>
          <a:noFill/>
          <a:ln/>
        </p:spPr>
        <p:txBody>
          <a:bodyPr wrap="square" lIns="0" tIns="0" rIns="0" bIns="0" rtlCol="0" anchor="ctr"/>
          <a:lstStyle/>
          <a:p>
            <a:pPr algn="ctr" indent="0" marL="0">
              <a:buNone/>
            </a:pPr>
            <a:r>
              <a:rPr lang="en-US" sz="1300" b="1" dirty="0">
                <a:solidFill>
                  <a:srgbClr val="17324D"/>
                </a:solidFill>
              </a:rPr>
              <a:t>The pattern: start from zero, understand the problem, build the relationship, close the solution, then stay accountable for adoption and expansion.</a:t>
            </a:r>
            <a:endParaRPr lang="en-US" sz="130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2743200" cy="201168"/>
          </a:xfrm>
          <a:prstGeom prst="rect">
            <a:avLst/>
          </a:prstGeom>
          <a:noFill/>
          <a:ln/>
        </p:spPr>
        <p:txBody>
          <a:bodyPr wrap="square" lIns="0" tIns="0" rIns="0" bIns="0" rtlCol="0" anchor="ctr"/>
          <a:lstStyle/>
          <a:p>
            <a:pPr indent="0" marL="0">
              <a:buNone/>
            </a:pPr>
            <a:r>
              <a:rPr lang="en-US" sz="900" b="1" spc="70" kern="0" dirty="0">
                <a:solidFill>
                  <a:srgbClr val="1B6B73"/>
                </a:solidFill>
              </a:rPr>
              <a:t>09 | FIRST 180 DAYS</a:t>
            </a:r>
            <a:endParaRPr lang="en-US" sz="900" dirty="0"/>
          </a:p>
        </p:txBody>
      </p:sp>
      <p:sp>
        <p:nvSpPr>
          <p:cNvPr id="3" name="Text 1"/>
          <p:cNvSpPr/>
          <p:nvPr/>
        </p:nvSpPr>
        <p:spPr>
          <a:xfrm>
            <a:off x="640080" y="658368"/>
            <a:ext cx="10698480" cy="566928"/>
          </a:xfrm>
          <a:prstGeom prst="rect">
            <a:avLst/>
          </a:prstGeom>
          <a:noFill/>
          <a:ln/>
        </p:spPr>
        <p:txBody>
          <a:bodyPr wrap="square" lIns="0" tIns="0" rIns="0" bIns="0" rtlCol="0" anchor="ctr"/>
          <a:lstStyle/>
          <a:p>
            <a:pPr indent="0" marL="0">
              <a:buNone/>
            </a:pPr>
            <a:r>
              <a:rPr lang="en-US" sz="2500" b="1" dirty="0">
                <a:solidFill>
                  <a:srgbClr val="17324D"/>
                </a:solidFill>
                <a:latin typeface="Aptos Display" pitchFamily="34" charset="0"/>
                <a:ea typeface="Aptos Display" pitchFamily="34" charset="-122"/>
                <a:cs typeface="Aptos Display" pitchFamily="34" charset="-120"/>
              </a:rPr>
              <a:t>Validate -&gt; Build -&gt; Create traction -&gt; Convert -&gt; Expand -&gt; Systemize</a:t>
            </a:r>
            <a:endParaRPr lang="en-US" sz="2500" dirty="0"/>
          </a:p>
        </p:txBody>
      </p:sp>
      <p:sp>
        <p:nvSpPr>
          <p:cNvPr id="4" name="Shape 2"/>
          <p:cNvSpPr/>
          <p:nvPr/>
        </p:nvSpPr>
        <p:spPr>
          <a:xfrm>
            <a:off x="566928" y="1691640"/>
            <a:ext cx="1664208" cy="3108960"/>
          </a:xfrm>
          <a:prstGeom prst="roundRect">
            <a:avLst>
              <a:gd name="adj" fmla="val 4396"/>
            </a:avLst>
          </a:prstGeom>
          <a:solidFill>
            <a:srgbClr val="F0F6F6"/>
          </a:solidFill>
          <a:ln w="12700">
            <a:solidFill>
              <a:srgbClr val="D8E0E5"/>
            </a:solidFill>
            <a:prstDash val="solid"/>
          </a:ln>
        </p:spPr>
      </p:sp>
      <p:sp>
        <p:nvSpPr>
          <p:cNvPr id="5" name="Shape 3"/>
          <p:cNvSpPr/>
          <p:nvPr/>
        </p:nvSpPr>
        <p:spPr>
          <a:xfrm>
            <a:off x="722376" y="1901952"/>
            <a:ext cx="749808" cy="310896"/>
          </a:xfrm>
          <a:prstGeom prst="roundRect">
            <a:avLst>
              <a:gd name="adj" fmla="val 23529"/>
            </a:avLst>
          </a:prstGeom>
          <a:solidFill>
            <a:srgbClr val="DDEFEF"/>
          </a:solidFill>
          <a:ln w="12700">
            <a:solidFill>
              <a:srgbClr val="DDEFEF"/>
            </a:solidFill>
            <a:prstDash val="solid"/>
          </a:ln>
        </p:spPr>
      </p:sp>
      <p:sp>
        <p:nvSpPr>
          <p:cNvPr id="6" name="Text 4"/>
          <p:cNvSpPr/>
          <p:nvPr/>
        </p:nvSpPr>
        <p:spPr>
          <a:xfrm>
            <a:off x="795528" y="1965960"/>
            <a:ext cx="603504" cy="146304"/>
          </a:xfrm>
          <a:prstGeom prst="rect">
            <a:avLst/>
          </a:prstGeom>
          <a:noFill/>
          <a:ln/>
        </p:spPr>
        <p:txBody>
          <a:bodyPr wrap="square" lIns="0" tIns="0" rIns="0" bIns="0" rtlCol="0" anchor="ctr"/>
          <a:lstStyle/>
          <a:p>
            <a:pPr algn="ctr" indent="0" marL="0">
              <a:buNone/>
            </a:pPr>
            <a:r>
              <a:rPr lang="en-US" sz="850" b="1" dirty="0">
                <a:solidFill>
                  <a:srgbClr val="1B6B73"/>
                </a:solidFill>
              </a:rPr>
              <a:t>1-30</a:t>
            </a:r>
            <a:endParaRPr lang="en-US" sz="850" dirty="0"/>
          </a:p>
        </p:txBody>
      </p:sp>
      <p:sp>
        <p:nvSpPr>
          <p:cNvPr id="7" name="Text 5"/>
          <p:cNvSpPr/>
          <p:nvPr/>
        </p:nvSpPr>
        <p:spPr>
          <a:xfrm>
            <a:off x="713232" y="2468880"/>
            <a:ext cx="1371600" cy="256032"/>
          </a:xfrm>
          <a:prstGeom prst="rect">
            <a:avLst/>
          </a:prstGeom>
          <a:noFill/>
          <a:ln/>
        </p:spPr>
        <p:txBody>
          <a:bodyPr wrap="square" lIns="0" tIns="0" rIns="0" bIns="0" rtlCol="0" anchor="ctr"/>
          <a:lstStyle/>
          <a:p>
            <a:pPr algn="ctr" indent="0" marL="0">
              <a:buNone/>
            </a:pPr>
            <a:r>
              <a:rPr lang="en-US" sz="1000" b="1" dirty="0">
                <a:solidFill>
                  <a:srgbClr val="17324D"/>
                </a:solidFill>
              </a:rPr>
              <a:t>VALIDATE</a:t>
            </a:r>
            <a:endParaRPr lang="en-US" sz="1000" dirty="0"/>
          </a:p>
        </p:txBody>
      </p:sp>
      <p:sp>
        <p:nvSpPr>
          <p:cNvPr id="8" name="Text 6"/>
          <p:cNvSpPr/>
          <p:nvPr/>
        </p:nvSpPr>
        <p:spPr>
          <a:xfrm>
            <a:off x="731520" y="3063240"/>
            <a:ext cx="1335024" cy="960120"/>
          </a:xfrm>
          <a:prstGeom prst="rect">
            <a:avLst/>
          </a:prstGeom>
          <a:noFill/>
          <a:ln/>
        </p:spPr>
        <p:txBody>
          <a:bodyPr wrap="square" lIns="0" tIns="0" rIns="0" bIns="0" rtlCol="0" anchor="ctr">
            <a:normAutofit/>
          </a:bodyPr>
          <a:lstStyle/>
          <a:p>
            <a:pPr algn="ctr" indent="0" marL="0">
              <a:buNone/>
            </a:pPr>
            <a:r>
              <a:rPr lang="en-US" sz="920" dirty="0">
                <a:solidFill>
                  <a:srgbClr val="222222"/>
                </a:solidFill>
              </a:rPr>
              <a:t>Customers, pipeline, proof, pricing, ICP</a:t>
            </a:r>
            <a:endParaRPr lang="en-US" sz="920" dirty="0"/>
          </a:p>
        </p:txBody>
      </p:sp>
      <p:sp>
        <p:nvSpPr>
          <p:cNvPr id="9" name="Shape 7"/>
          <p:cNvSpPr/>
          <p:nvPr/>
        </p:nvSpPr>
        <p:spPr>
          <a:xfrm>
            <a:off x="2468880" y="1691640"/>
            <a:ext cx="1664208" cy="3108960"/>
          </a:xfrm>
          <a:prstGeom prst="roundRect">
            <a:avLst>
              <a:gd name="adj" fmla="val 4396"/>
            </a:avLst>
          </a:prstGeom>
          <a:solidFill>
            <a:srgbClr val="F0F6F6"/>
          </a:solidFill>
          <a:ln w="12700">
            <a:solidFill>
              <a:srgbClr val="D8E0E5"/>
            </a:solidFill>
            <a:prstDash val="solid"/>
          </a:ln>
        </p:spPr>
      </p:sp>
      <p:sp>
        <p:nvSpPr>
          <p:cNvPr id="10" name="Shape 8"/>
          <p:cNvSpPr/>
          <p:nvPr/>
        </p:nvSpPr>
        <p:spPr>
          <a:xfrm>
            <a:off x="2624328" y="1901952"/>
            <a:ext cx="749808" cy="310896"/>
          </a:xfrm>
          <a:prstGeom prst="roundRect">
            <a:avLst>
              <a:gd name="adj" fmla="val 23529"/>
            </a:avLst>
          </a:prstGeom>
          <a:solidFill>
            <a:srgbClr val="DDEFEF"/>
          </a:solidFill>
          <a:ln w="12700">
            <a:solidFill>
              <a:srgbClr val="DDEFEF"/>
            </a:solidFill>
            <a:prstDash val="solid"/>
          </a:ln>
        </p:spPr>
      </p:sp>
      <p:sp>
        <p:nvSpPr>
          <p:cNvPr id="11" name="Text 9"/>
          <p:cNvSpPr/>
          <p:nvPr/>
        </p:nvSpPr>
        <p:spPr>
          <a:xfrm>
            <a:off x="2697480" y="1965960"/>
            <a:ext cx="603504" cy="146304"/>
          </a:xfrm>
          <a:prstGeom prst="rect">
            <a:avLst/>
          </a:prstGeom>
          <a:noFill/>
          <a:ln/>
        </p:spPr>
        <p:txBody>
          <a:bodyPr wrap="square" lIns="0" tIns="0" rIns="0" bIns="0" rtlCol="0" anchor="ctr"/>
          <a:lstStyle/>
          <a:p>
            <a:pPr algn="ctr" indent="0" marL="0">
              <a:buNone/>
            </a:pPr>
            <a:r>
              <a:rPr lang="en-US" sz="850" b="1" dirty="0">
                <a:solidFill>
                  <a:srgbClr val="1B6B73"/>
                </a:solidFill>
              </a:rPr>
              <a:t>31-60</a:t>
            </a:r>
            <a:endParaRPr lang="en-US" sz="850" dirty="0"/>
          </a:p>
        </p:txBody>
      </p:sp>
      <p:sp>
        <p:nvSpPr>
          <p:cNvPr id="12" name="Text 10"/>
          <p:cNvSpPr/>
          <p:nvPr/>
        </p:nvSpPr>
        <p:spPr>
          <a:xfrm>
            <a:off x="2615184" y="2468880"/>
            <a:ext cx="1371600" cy="256032"/>
          </a:xfrm>
          <a:prstGeom prst="rect">
            <a:avLst/>
          </a:prstGeom>
          <a:noFill/>
          <a:ln/>
        </p:spPr>
        <p:txBody>
          <a:bodyPr wrap="square" lIns="0" tIns="0" rIns="0" bIns="0" rtlCol="0" anchor="ctr"/>
          <a:lstStyle/>
          <a:p>
            <a:pPr algn="ctr" indent="0" marL="0">
              <a:buNone/>
            </a:pPr>
            <a:r>
              <a:rPr lang="en-US" sz="1000" b="1" dirty="0">
                <a:solidFill>
                  <a:srgbClr val="17324D"/>
                </a:solidFill>
              </a:rPr>
              <a:t>BUILD</a:t>
            </a:r>
            <a:endParaRPr lang="en-US" sz="1000" dirty="0"/>
          </a:p>
        </p:txBody>
      </p:sp>
      <p:sp>
        <p:nvSpPr>
          <p:cNvPr id="13" name="Text 11"/>
          <p:cNvSpPr/>
          <p:nvPr/>
        </p:nvSpPr>
        <p:spPr>
          <a:xfrm>
            <a:off x="2633472" y="3063240"/>
            <a:ext cx="1335024" cy="960120"/>
          </a:xfrm>
          <a:prstGeom prst="rect">
            <a:avLst/>
          </a:prstGeom>
          <a:noFill/>
          <a:ln/>
        </p:spPr>
        <p:txBody>
          <a:bodyPr wrap="square" lIns="0" tIns="0" rIns="0" bIns="0" rtlCol="0" anchor="ctr">
            <a:normAutofit/>
          </a:bodyPr>
          <a:lstStyle/>
          <a:p>
            <a:pPr algn="ctr" indent="0" marL="0">
              <a:buNone/>
            </a:pPr>
            <a:r>
              <a:rPr lang="en-US" sz="920" dirty="0">
                <a:solidFill>
                  <a:srgbClr val="222222"/>
                </a:solidFill>
              </a:rPr>
              <a:t>Accounts, triggers, buyer maps, messaging</a:t>
            </a:r>
            <a:endParaRPr lang="en-US" sz="920" dirty="0"/>
          </a:p>
        </p:txBody>
      </p:sp>
      <p:sp>
        <p:nvSpPr>
          <p:cNvPr id="14" name="Shape 12"/>
          <p:cNvSpPr/>
          <p:nvPr/>
        </p:nvSpPr>
        <p:spPr>
          <a:xfrm>
            <a:off x="4370832" y="1691640"/>
            <a:ext cx="1664208" cy="3108960"/>
          </a:xfrm>
          <a:prstGeom prst="roundRect">
            <a:avLst>
              <a:gd name="adj" fmla="val 4396"/>
            </a:avLst>
          </a:prstGeom>
          <a:solidFill>
            <a:srgbClr val="FFFFFF"/>
          </a:solidFill>
          <a:ln w="12700">
            <a:solidFill>
              <a:srgbClr val="D8E0E5"/>
            </a:solidFill>
            <a:prstDash val="solid"/>
          </a:ln>
        </p:spPr>
      </p:sp>
      <p:sp>
        <p:nvSpPr>
          <p:cNvPr id="15" name="Shape 13"/>
          <p:cNvSpPr/>
          <p:nvPr/>
        </p:nvSpPr>
        <p:spPr>
          <a:xfrm>
            <a:off x="4526280" y="1901952"/>
            <a:ext cx="749808" cy="310896"/>
          </a:xfrm>
          <a:prstGeom prst="roundRect">
            <a:avLst>
              <a:gd name="adj" fmla="val 23529"/>
            </a:avLst>
          </a:prstGeom>
          <a:solidFill>
            <a:srgbClr val="EEF1F3"/>
          </a:solidFill>
          <a:ln w="12700">
            <a:solidFill>
              <a:srgbClr val="EEF1F3"/>
            </a:solidFill>
            <a:prstDash val="solid"/>
          </a:ln>
        </p:spPr>
      </p:sp>
      <p:sp>
        <p:nvSpPr>
          <p:cNvPr id="16" name="Text 14"/>
          <p:cNvSpPr/>
          <p:nvPr/>
        </p:nvSpPr>
        <p:spPr>
          <a:xfrm>
            <a:off x="4599432" y="1965960"/>
            <a:ext cx="603504" cy="146304"/>
          </a:xfrm>
          <a:prstGeom prst="rect">
            <a:avLst/>
          </a:prstGeom>
          <a:noFill/>
          <a:ln/>
        </p:spPr>
        <p:txBody>
          <a:bodyPr wrap="square" lIns="0" tIns="0" rIns="0" bIns="0" rtlCol="0" anchor="ctr"/>
          <a:lstStyle/>
          <a:p>
            <a:pPr algn="ctr" indent="0" marL="0">
              <a:buNone/>
            </a:pPr>
            <a:r>
              <a:rPr lang="en-US" sz="850" b="1" dirty="0">
                <a:solidFill>
                  <a:srgbClr val="1B6B73"/>
                </a:solidFill>
              </a:rPr>
              <a:t>61-90</a:t>
            </a:r>
            <a:endParaRPr lang="en-US" sz="850" dirty="0"/>
          </a:p>
        </p:txBody>
      </p:sp>
      <p:sp>
        <p:nvSpPr>
          <p:cNvPr id="17" name="Text 15"/>
          <p:cNvSpPr/>
          <p:nvPr/>
        </p:nvSpPr>
        <p:spPr>
          <a:xfrm>
            <a:off x="4517136" y="2468880"/>
            <a:ext cx="1371600" cy="256032"/>
          </a:xfrm>
          <a:prstGeom prst="rect">
            <a:avLst/>
          </a:prstGeom>
          <a:noFill/>
          <a:ln/>
        </p:spPr>
        <p:txBody>
          <a:bodyPr wrap="square" lIns="0" tIns="0" rIns="0" bIns="0" rtlCol="0" anchor="ctr"/>
          <a:lstStyle/>
          <a:p>
            <a:pPr algn="ctr" indent="0" marL="0">
              <a:buNone/>
            </a:pPr>
            <a:r>
              <a:rPr lang="en-US" sz="1000" b="1" dirty="0">
                <a:solidFill>
                  <a:srgbClr val="17324D"/>
                </a:solidFill>
              </a:rPr>
              <a:t>TRACTION</a:t>
            </a:r>
            <a:endParaRPr lang="en-US" sz="1000" dirty="0"/>
          </a:p>
        </p:txBody>
      </p:sp>
      <p:sp>
        <p:nvSpPr>
          <p:cNvPr id="18" name="Text 16"/>
          <p:cNvSpPr/>
          <p:nvPr/>
        </p:nvSpPr>
        <p:spPr>
          <a:xfrm>
            <a:off x="4535424" y="3063240"/>
            <a:ext cx="1335024" cy="960120"/>
          </a:xfrm>
          <a:prstGeom prst="rect">
            <a:avLst/>
          </a:prstGeom>
          <a:noFill/>
          <a:ln/>
        </p:spPr>
        <p:txBody>
          <a:bodyPr wrap="square" lIns="0" tIns="0" rIns="0" bIns="0" rtlCol="0" anchor="ctr">
            <a:normAutofit/>
          </a:bodyPr>
          <a:lstStyle/>
          <a:p>
            <a:pPr algn="ctr" indent="0" marL="0">
              <a:buNone/>
            </a:pPr>
            <a:r>
              <a:rPr lang="en-US" sz="920" dirty="0">
                <a:solidFill>
                  <a:srgbClr val="222222"/>
                </a:solidFill>
              </a:rPr>
              <a:t>Executive conversations, discovery, assessments</a:t>
            </a:r>
            <a:endParaRPr lang="en-US" sz="920" dirty="0"/>
          </a:p>
        </p:txBody>
      </p:sp>
      <p:sp>
        <p:nvSpPr>
          <p:cNvPr id="19" name="Shape 17"/>
          <p:cNvSpPr/>
          <p:nvPr/>
        </p:nvSpPr>
        <p:spPr>
          <a:xfrm>
            <a:off x="6272784" y="1691640"/>
            <a:ext cx="1664208" cy="3108960"/>
          </a:xfrm>
          <a:prstGeom prst="roundRect">
            <a:avLst>
              <a:gd name="adj" fmla="val 4396"/>
            </a:avLst>
          </a:prstGeom>
          <a:solidFill>
            <a:srgbClr val="FFFFFF"/>
          </a:solidFill>
          <a:ln w="12700">
            <a:solidFill>
              <a:srgbClr val="D8E0E5"/>
            </a:solidFill>
            <a:prstDash val="solid"/>
          </a:ln>
        </p:spPr>
      </p:sp>
      <p:sp>
        <p:nvSpPr>
          <p:cNvPr id="20" name="Shape 18"/>
          <p:cNvSpPr/>
          <p:nvPr/>
        </p:nvSpPr>
        <p:spPr>
          <a:xfrm>
            <a:off x="6428232" y="1901952"/>
            <a:ext cx="749808" cy="310896"/>
          </a:xfrm>
          <a:prstGeom prst="roundRect">
            <a:avLst>
              <a:gd name="adj" fmla="val 23529"/>
            </a:avLst>
          </a:prstGeom>
          <a:solidFill>
            <a:srgbClr val="EEF1F3"/>
          </a:solidFill>
          <a:ln w="12700">
            <a:solidFill>
              <a:srgbClr val="EEF1F3"/>
            </a:solidFill>
            <a:prstDash val="solid"/>
          </a:ln>
        </p:spPr>
      </p:sp>
      <p:sp>
        <p:nvSpPr>
          <p:cNvPr id="21" name="Text 19"/>
          <p:cNvSpPr/>
          <p:nvPr/>
        </p:nvSpPr>
        <p:spPr>
          <a:xfrm>
            <a:off x="6501384" y="1965960"/>
            <a:ext cx="603504" cy="146304"/>
          </a:xfrm>
          <a:prstGeom prst="rect">
            <a:avLst/>
          </a:prstGeom>
          <a:noFill/>
          <a:ln/>
        </p:spPr>
        <p:txBody>
          <a:bodyPr wrap="square" lIns="0" tIns="0" rIns="0" bIns="0" rtlCol="0" anchor="ctr"/>
          <a:lstStyle/>
          <a:p>
            <a:pPr algn="ctr" indent="0" marL="0">
              <a:buNone/>
            </a:pPr>
            <a:r>
              <a:rPr lang="en-US" sz="850" b="1" dirty="0">
                <a:solidFill>
                  <a:srgbClr val="1B6B73"/>
                </a:solidFill>
              </a:rPr>
              <a:t>91-120</a:t>
            </a:r>
            <a:endParaRPr lang="en-US" sz="850" dirty="0"/>
          </a:p>
        </p:txBody>
      </p:sp>
      <p:sp>
        <p:nvSpPr>
          <p:cNvPr id="22" name="Text 20"/>
          <p:cNvSpPr/>
          <p:nvPr/>
        </p:nvSpPr>
        <p:spPr>
          <a:xfrm>
            <a:off x="6419088" y="2468880"/>
            <a:ext cx="1371600" cy="256032"/>
          </a:xfrm>
          <a:prstGeom prst="rect">
            <a:avLst/>
          </a:prstGeom>
          <a:noFill/>
          <a:ln/>
        </p:spPr>
        <p:txBody>
          <a:bodyPr wrap="square" lIns="0" tIns="0" rIns="0" bIns="0" rtlCol="0" anchor="ctr"/>
          <a:lstStyle/>
          <a:p>
            <a:pPr algn="ctr" indent="0" marL="0">
              <a:buNone/>
            </a:pPr>
            <a:r>
              <a:rPr lang="en-US" sz="1000" b="1" dirty="0">
                <a:solidFill>
                  <a:srgbClr val="17324D"/>
                </a:solidFill>
              </a:rPr>
              <a:t>CONVERT</a:t>
            </a:r>
            <a:endParaRPr lang="en-US" sz="1000" dirty="0"/>
          </a:p>
        </p:txBody>
      </p:sp>
      <p:sp>
        <p:nvSpPr>
          <p:cNvPr id="23" name="Text 21"/>
          <p:cNvSpPr/>
          <p:nvPr/>
        </p:nvSpPr>
        <p:spPr>
          <a:xfrm>
            <a:off x="6437376" y="3063240"/>
            <a:ext cx="1335024" cy="960120"/>
          </a:xfrm>
          <a:prstGeom prst="rect">
            <a:avLst/>
          </a:prstGeom>
          <a:noFill/>
          <a:ln/>
        </p:spPr>
        <p:txBody>
          <a:bodyPr wrap="square" lIns="0" tIns="0" rIns="0" bIns="0" rtlCol="0" anchor="ctr">
            <a:normAutofit/>
          </a:bodyPr>
          <a:lstStyle/>
          <a:p>
            <a:pPr algn="ctr" indent="0" marL="0">
              <a:buNone/>
            </a:pPr>
            <a:r>
              <a:rPr lang="en-US" sz="920" dirty="0">
                <a:solidFill>
                  <a:srgbClr val="222222"/>
                </a:solidFill>
              </a:rPr>
              <a:t>Business cases, pilots, proposals, procurement</a:t>
            </a:r>
            <a:endParaRPr lang="en-US" sz="920" dirty="0"/>
          </a:p>
        </p:txBody>
      </p:sp>
      <p:sp>
        <p:nvSpPr>
          <p:cNvPr id="24" name="Shape 22"/>
          <p:cNvSpPr/>
          <p:nvPr/>
        </p:nvSpPr>
        <p:spPr>
          <a:xfrm>
            <a:off x="8174736" y="1691640"/>
            <a:ext cx="1664208" cy="3108960"/>
          </a:xfrm>
          <a:prstGeom prst="roundRect">
            <a:avLst>
              <a:gd name="adj" fmla="val 4396"/>
            </a:avLst>
          </a:prstGeom>
          <a:solidFill>
            <a:srgbClr val="FFFFFF"/>
          </a:solidFill>
          <a:ln w="12700">
            <a:solidFill>
              <a:srgbClr val="D8E0E5"/>
            </a:solidFill>
            <a:prstDash val="solid"/>
          </a:ln>
        </p:spPr>
      </p:sp>
      <p:sp>
        <p:nvSpPr>
          <p:cNvPr id="25" name="Shape 23"/>
          <p:cNvSpPr/>
          <p:nvPr/>
        </p:nvSpPr>
        <p:spPr>
          <a:xfrm>
            <a:off x="8330184" y="1901952"/>
            <a:ext cx="749808" cy="310896"/>
          </a:xfrm>
          <a:prstGeom prst="roundRect">
            <a:avLst>
              <a:gd name="adj" fmla="val 23529"/>
            </a:avLst>
          </a:prstGeom>
          <a:solidFill>
            <a:srgbClr val="EEF1F3"/>
          </a:solidFill>
          <a:ln w="12700">
            <a:solidFill>
              <a:srgbClr val="EEF1F3"/>
            </a:solidFill>
            <a:prstDash val="solid"/>
          </a:ln>
        </p:spPr>
      </p:sp>
      <p:sp>
        <p:nvSpPr>
          <p:cNvPr id="26" name="Text 24"/>
          <p:cNvSpPr/>
          <p:nvPr/>
        </p:nvSpPr>
        <p:spPr>
          <a:xfrm>
            <a:off x="8403336" y="1965960"/>
            <a:ext cx="603504" cy="146304"/>
          </a:xfrm>
          <a:prstGeom prst="rect">
            <a:avLst/>
          </a:prstGeom>
          <a:noFill/>
          <a:ln/>
        </p:spPr>
        <p:txBody>
          <a:bodyPr wrap="square" lIns="0" tIns="0" rIns="0" bIns="0" rtlCol="0" anchor="ctr"/>
          <a:lstStyle/>
          <a:p>
            <a:pPr algn="ctr" indent="0" marL="0">
              <a:buNone/>
            </a:pPr>
            <a:r>
              <a:rPr lang="en-US" sz="850" b="1" dirty="0">
                <a:solidFill>
                  <a:srgbClr val="1B6B73"/>
                </a:solidFill>
              </a:rPr>
              <a:t>121-150</a:t>
            </a:r>
            <a:endParaRPr lang="en-US" sz="850" dirty="0"/>
          </a:p>
        </p:txBody>
      </p:sp>
      <p:sp>
        <p:nvSpPr>
          <p:cNvPr id="27" name="Text 25"/>
          <p:cNvSpPr/>
          <p:nvPr/>
        </p:nvSpPr>
        <p:spPr>
          <a:xfrm>
            <a:off x="8321040" y="2468880"/>
            <a:ext cx="1371600" cy="256032"/>
          </a:xfrm>
          <a:prstGeom prst="rect">
            <a:avLst/>
          </a:prstGeom>
          <a:noFill/>
          <a:ln/>
        </p:spPr>
        <p:txBody>
          <a:bodyPr wrap="square" lIns="0" tIns="0" rIns="0" bIns="0" rtlCol="0" anchor="ctr"/>
          <a:lstStyle/>
          <a:p>
            <a:pPr algn="ctr" indent="0" marL="0">
              <a:buNone/>
            </a:pPr>
            <a:r>
              <a:rPr lang="en-US" sz="1000" b="1" dirty="0">
                <a:solidFill>
                  <a:srgbClr val="17324D"/>
                </a:solidFill>
              </a:rPr>
              <a:t>EXPAND</a:t>
            </a:r>
            <a:endParaRPr lang="en-US" sz="1000" dirty="0"/>
          </a:p>
        </p:txBody>
      </p:sp>
      <p:sp>
        <p:nvSpPr>
          <p:cNvPr id="28" name="Text 26"/>
          <p:cNvSpPr/>
          <p:nvPr/>
        </p:nvSpPr>
        <p:spPr>
          <a:xfrm>
            <a:off x="8339328" y="3063240"/>
            <a:ext cx="1335024" cy="960120"/>
          </a:xfrm>
          <a:prstGeom prst="rect">
            <a:avLst/>
          </a:prstGeom>
          <a:noFill/>
          <a:ln/>
        </p:spPr>
        <p:txBody>
          <a:bodyPr wrap="square" lIns="0" tIns="0" rIns="0" bIns="0" rtlCol="0" anchor="ctr">
            <a:normAutofit/>
          </a:bodyPr>
          <a:lstStyle/>
          <a:p>
            <a:pPr algn="ctr" indent="0" marL="0">
              <a:buNone/>
            </a:pPr>
            <a:r>
              <a:rPr lang="en-US" sz="920" dirty="0">
                <a:solidFill>
                  <a:srgbClr val="222222"/>
                </a:solidFill>
              </a:rPr>
              <a:t>Installed base, cross-sell, case studies</a:t>
            </a:r>
            <a:endParaRPr lang="en-US" sz="920" dirty="0"/>
          </a:p>
        </p:txBody>
      </p:sp>
      <p:sp>
        <p:nvSpPr>
          <p:cNvPr id="29" name="Shape 27"/>
          <p:cNvSpPr/>
          <p:nvPr/>
        </p:nvSpPr>
        <p:spPr>
          <a:xfrm>
            <a:off x="10076688" y="1691640"/>
            <a:ext cx="1664208" cy="3108960"/>
          </a:xfrm>
          <a:prstGeom prst="roundRect">
            <a:avLst>
              <a:gd name="adj" fmla="val 4396"/>
            </a:avLst>
          </a:prstGeom>
          <a:solidFill>
            <a:srgbClr val="FFFFFF"/>
          </a:solidFill>
          <a:ln w="12700">
            <a:solidFill>
              <a:srgbClr val="D8E0E5"/>
            </a:solidFill>
            <a:prstDash val="solid"/>
          </a:ln>
        </p:spPr>
      </p:sp>
      <p:sp>
        <p:nvSpPr>
          <p:cNvPr id="30" name="Shape 28"/>
          <p:cNvSpPr/>
          <p:nvPr/>
        </p:nvSpPr>
        <p:spPr>
          <a:xfrm>
            <a:off x="10232136" y="1901952"/>
            <a:ext cx="749808" cy="310896"/>
          </a:xfrm>
          <a:prstGeom prst="roundRect">
            <a:avLst>
              <a:gd name="adj" fmla="val 23529"/>
            </a:avLst>
          </a:prstGeom>
          <a:solidFill>
            <a:srgbClr val="EEF1F3"/>
          </a:solidFill>
          <a:ln w="12700">
            <a:solidFill>
              <a:srgbClr val="EEF1F3"/>
            </a:solidFill>
            <a:prstDash val="solid"/>
          </a:ln>
        </p:spPr>
      </p:sp>
      <p:sp>
        <p:nvSpPr>
          <p:cNvPr id="31" name="Text 29"/>
          <p:cNvSpPr/>
          <p:nvPr/>
        </p:nvSpPr>
        <p:spPr>
          <a:xfrm>
            <a:off x="10305288" y="1965960"/>
            <a:ext cx="603504" cy="146304"/>
          </a:xfrm>
          <a:prstGeom prst="rect">
            <a:avLst/>
          </a:prstGeom>
          <a:noFill/>
          <a:ln/>
        </p:spPr>
        <p:txBody>
          <a:bodyPr wrap="square" lIns="0" tIns="0" rIns="0" bIns="0" rtlCol="0" anchor="ctr"/>
          <a:lstStyle/>
          <a:p>
            <a:pPr algn="ctr" indent="0" marL="0">
              <a:buNone/>
            </a:pPr>
            <a:r>
              <a:rPr lang="en-US" sz="850" b="1" dirty="0">
                <a:solidFill>
                  <a:srgbClr val="1B6B73"/>
                </a:solidFill>
              </a:rPr>
              <a:t>151-180</a:t>
            </a:r>
            <a:endParaRPr lang="en-US" sz="850" dirty="0"/>
          </a:p>
        </p:txBody>
      </p:sp>
      <p:sp>
        <p:nvSpPr>
          <p:cNvPr id="32" name="Text 30"/>
          <p:cNvSpPr/>
          <p:nvPr/>
        </p:nvSpPr>
        <p:spPr>
          <a:xfrm>
            <a:off x="10222992" y="2468880"/>
            <a:ext cx="1371600" cy="256032"/>
          </a:xfrm>
          <a:prstGeom prst="rect">
            <a:avLst/>
          </a:prstGeom>
          <a:noFill/>
          <a:ln/>
        </p:spPr>
        <p:txBody>
          <a:bodyPr wrap="square" lIns="0" tIns="0" rIns="0" bIns="0" rtlCol="0" anchor="ctr"/>
          <a:lstStyle/>
          <a:p>
            <a:pPr algn="ctr" indent="0" marL="0">
              <a:buNone/>
            </a:pPr>
            <a:r>
              <a:rPr lang="en-US" sz="1000" b="1" dirty="0">
                <a:solidFill>
                  <a:srgbClr val="17324D"/>
                </a:solidFill>
              </a:rPr>
              <a:t>SYSTEMIZE</a:t>
            </a:r>
            <a:endParaRPr lang="en-US" sz="1000" dirty="0"/>
          </a:p>
        </p:txBody>
      </p:sp>
      <p:sp>
        <p:nvSpPr>
          <p:cNvPr id="33" name="Text 31"/>
          <p:cNvSpPr/>
          <p:nvPr/>
        </p:nvSpPr>
        <p:spPr>
          <a:xfrm>
            <a:off x="10241280" y="3063240"/>
            <a:ext cx="1335024" cy="960120"/>
          </a:xfrm>
          <a:prstGeom prst="rect">
            <a:avLst/>
          </a:prstGeom>
          <a:noFill/>
          <a:ln/>
        </p:spPr>
        <p:txBody>
          <a:bodyPr wrap="square" lIns="0" tIns="0" rIns="0" bIns="0" rtlCol="0" anchor="ctr">
            <a:normAutofit/>
          </a:bodyPr>
          <a:lstStyle/>
          <a:p>
            <a:pPr algn="ctr" indent="0" marL="0">
              <a:buNone/>
            </a:pPr>
            <a:r>
              <a:rPr lang="en-US" sz="920" dirty="0">
                <a:solidFill>
                  <a:srgbClr val="222222"/>
                </a:solidFill>
              </a:rPr>
              <a:t>Repeatable motions, governance, next-phase plan</a:t>
            </a:r>
            <a:endParaRPr lang="en-US" sz="920" dirty="0"/>
          </a:p>
        </p:txBody>
      </p:sp>
      <p:sp>
        <p:nvSpPr>
          <p:cNvPr id="34" name="Text 32"/>
          <p:cNvSpPr/>
          <p:nvPr/>
        </p:nvSpPr>
        <p:spPr>
          <a:xfrm>
            <a:off x="914400" y="5230368"/>
            <a:ext cx="10058400" cy="566928"/>
          </a:xfrm>
          <a:prstGeom prst="rect">
            <a:avLst/>
          </a:prstGeom>
          <a:noFill/>
          <a:ln/>
        </p:spPr>
        <p:txBody>
          <a:bodyPr wrap="square" lIns="0" tIns="0" rIns="0" bIns="0" rtlCol="0" anchor="ctr"/>
          <a:lstStyle/>
          <a:p>
            <a:pPr algn="ctr" indent="0" marL="0">
              <a:buNone/>
            </a:pPr>
            <a:r>
              <a:rPr lang="en-US" sz="1500" b="1" dirty="0">
                <a:solidFill>
                  <a:srgbClr val="1B6B73"/>
                </a:solidFill>
              </a:rPr>
              <a:t>No revenue promise. The commitment is to build evidence, qualified traction and a commercial system that earns the right to scale.</a:t>
            </a:r>
            <a:endParaRPr lang="en-US" sz="1500" dirty="0"/>
          </a:p>
        </p:txBody>
      </p:sp>
      <p:sp>
        <p:nvSpPr>
          <p:cNvPr id="35" name="Text 33"/>
          <p:cNvSpPr/>
          <p:nvPr/>
        </p:nvSpPr>
        <p:spPr>
          <a:xfrm>
            <a:off x="1143000" y="5879592"/>
            <a:ext cx="9601200" cy="420624"/>
          </a:xfrm>
          <a:prstGeom prst="rect">
            <a:avLst/>
          </a:prstGeom>
          <a:noFill/>
          <a:ln/>
        </p:spPr>
        <p:txBody>
          <a:bodyPr wrap="square" lIns="0" tIns="0" rIns="0" bIns="0" rtlCol="0" anchor="ctr"/>
          <a:lstStyle/>
          <a:p>
            <a:pPr algn="ctr" indent="0" marL="0">
              <a:buNone/>
            </a:pPr>
            <a:r>
              <a:rPr lang="en-US" sz="1130" dirty="0">
                <a:solidFill>
                  <a:srgbClr val="17324D"/>
                </a:solidFill>
              </a:rPr>
              <a:t>The next stage is not about more sales activity. It is about knowing where to focus, why the customer should act, how to prove value and how to grow the relationship after the first win.</a:t>
            </a:r>
            <a:endParaRPr lang="en-US" sz="1130" dirty="0"/>
          </a:p>
        </p:txBody>
      </p:sp>
      <p:sp>
        <p:nvSpPr>
          <p:cNvPr id="25" name="Slide Number Placeholder 0"/>
          <p:cNvSpPr>
            <a:spLocks noGrp="1"/>
          </p:cNvSpPr>
          <p:nvPr>
            <p:ph type="sldNum" sz="quarter" idx="4294967295"/>
          </p:nvPr>
        </p:nvSpPr>
        <p:spPr>
          <a:xfrm>
            <a:off x="11109960" y="6510528"/>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1717D"/>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The Algorithm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10-Slide Executive Presentation V2.2</dc:title>
  <dc:subject>The Algorithm Commercial Growth Architecture</dc:subject>
  <dc:creator>OpenAI</dc:creator>
  <cp:lastModifiedBy>OpenAI</cp:lastModifiedBy>
  <cp:revision>1</cp:revision>
  <dcterms:created xsi:type="dcterms:W3CDTF">2026-08-29T02:13:09Z</dcterms:created>
  <dcterms:modified xsi:type="dcterms:W3CDTF">2026-08-29T02:13:09Z</dcterms:modified>
</cp:coreProperties>
</file>