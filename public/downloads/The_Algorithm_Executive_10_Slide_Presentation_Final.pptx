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731519" y="566927"/>
            <a:ext cx="521208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ALGORITHM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31519" y="1142999"/>
            <a:ext cx="6309362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t>Building The Algorithm's</a:t>
            </a:r>
          </a:p>
          <a:p>
            <a:pPr>
              <a:defRPr sz="34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t>Commercial Growth Engine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58952" y="2743199"/>
            <a:ext cx="5120640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An outside-in leadership view of where I would focus, how I would create qualified traction and how commercial ownership could develop.</a:t>
            </a:r>
          </a:p>
        </p:txBody>
      </p:sp>
      <p:sp>
        <p:nvSpPr>
          <p:cNvPr id="97" name="Rectangle 4"/>
          <p:cNvSpPr/>
          <p:nvPr/>
        </p:nvSpPr>
        <p:spPr>
          <a:xfrm>
            <a:off x="713231" y="3675742"/>
            <a:ext cx="4998474" cy="27579"/>
          </a:xfrm>
          <a:prstGeom prst="rect">
            <a:avLst/>
          </a:prstGeom>
          <a:solidFill>
            <a:srgbClr val="A77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Rectangle 5"/>
          <p:cNvSpPr/>
          <p:nvPr/>
        </p:nvSpPr>
        <p:spPr>
          <a:xfrm>
            <a:off x="6995159" y="731519"/>
            <a:ext cx="4480561" cy="5349242"/>
          </a:xfrm>
          <a:prstGeom prst="rect">
            <a:avLst/>
          </a:prstGeom>
          <a:solidFill>
            <a:srgbClr val="F5F5F2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6"/>
          <p:cNvSpPr txBox="1"/>
          <p:nvPr/>
        </p:nvSpPr>
        <p:spPr>
          <a:xfrm>
            <a:off x="7406639" y="1142999"/>
            <a:ext cx="365760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CONVERSATION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7406639" y="1664207"/>
            <a:ext cx="356616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t>Not a website summary.</a:t>
            </a:r>
          </a:p>
          <a:p>
            <a:pPr>
              <a:defRPr sz="25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t>A discussion about choices.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7406639" y="2743200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7662672" y="2743200"/>
            <a:ext cx="3218689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Where the strongest commercial leverage may exist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7406639" y="3291840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04" name="TextBox 11"/>
          <p:cNvSpPr txBox="1"/>
          <p:nvPr/>
        </p:nvSpPr>
        <p:spPr>
          <a:xfrm>
            <a:off x="7662672" y="3291840"/>
            <a:ext cx="321868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What I would prioritize before scaling activity</a:t>
            </a:r>
          </a:p>
        </p:txBody>
      </p:sp>
      <p:sp>
        <p:nvSpPr>
          <p:cNvPr id="105" name="TextBox 12"/>
          <p:cNvSpPr txBox="1"/>
          <p:nvPr/>
        </p:nvSpPr>
        <p:spPr>
          <a:xfrm>
            <a:off x="7406639" y="3840479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06" name="TextBox 13"/>
          <p:cNvSpPr txBox="1"/>
          <p:nvPr/>
        </p:nvSpPr>
        <p:spPr>
          <a:xfrm>
            <a:off x="7662672" y="3840479"/>
            <a:ext cx="3218689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How I would connect acquisition, conversion and account growth</a:t>
            </a:r>
          </a:p>
        </p:txBody>
      </p:sp>
      <p:sp>
        <p:nvSpPr>
          <p:cNvPr id="107" name="TextBox 14"/>
          <p:cNvSpPr txBox="1"/>
          <p:nvPr/>
        </p:nvSpPr>
        <p:spPr>
          <a:xfrm>
            <a:off x="7406639" y="4389120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08" name="TextBox 15"/>
          <p:cNvSpPr txBox="1"/>
          <p:nvPr/>
        </p:nvSpPr>
        <p:spPr>
          <a:xfrm>
            <a:off x="7662672" y="4389120"/>
            <a:ext cx="321868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What I would need to validate with leadership</a:t>
            </a:r>
          </a:p>
        </p:txBody>
      </p:sp>
      <p:sp>
        <p:nvSpPr>
          <p:cNvPr id="109" name="TextBox 16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COMMERCIAL OPPORTUNITY</a:t>
            </a:r>
          </a:p>
        </p:txBody>
      </p:sp>
      <p:sp>
        <p:nvSpPr>
          <p:cNvPr id="112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capability is broader than the current commercial motion.</a:t>
            </a:r>
          </a:p>
        </p:txBody>
      </p:sp>
      <p:sp>
        <p:nvSpPr>
          <p:cNvPr id="113" name="TextBox 3"/>
          <p:cNvSpPr txBox="1"/>
          <p:nvPr/>
        </p:nvSpPr>
        <p:spPr>
          <a:xfrm>
            <a:off x="640079" y="13075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question is not whether there is something to sell. It is where to focus first and how to make growth systematic.</a:t>
            </a:r>
          </a:p>
        </p:txBody>
      </p:sp>
      <p:sp>
        <p:nvSpPr>
          <p:cNvPr id="114" name="Rectangle 4"/>
          <p:cNvSpPr/>
          <p:nvPr/>
        </p:nvSpPr>
        <p:spPr>
          <a:xfrm>
            <a:off x="640079" y="2057400"/>
            <a:ext cx="2560322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5"/>
          <p:cNvSpPr/>
          <p:nvPr/>
        </p:nvSpPr>
        <p:spPr>
          <a:xfrm>
            <a:off x="640079" y="2057400"/>
            <a:ext cx="2560322" cy="54864"/>
          </a:xfrm>
          <a:prstGeom prst="rect">
            <a:avLst/>
          </a:prstGeom>
          <a:solidFill>
            <a:srgbClr val="2A568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6"/>
          <p:cNvSpPr txBox="1"/>
          <p:nvPr/>
        </p:nvSpPr>
        <p:spPr>
          <a:xfrm>
            <a:off x="868678" y="2395727"/>
            <a:ext cx="21031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Product IP</a:t>
            </a:r>
          </a:p>
        </p:txBody>
      </p:sp>
      <p:sp>
        <p:nvSpPr>
          <p:cNvPr id="117" name="TextBox 7"/>
          <p:cNvSpPr txBox="1"/>
          <p:nvPr/>
        </p:nvSpPr>
        <p:spPr>
          <a:xfrm>
            <a:off x="868678" y="2999232"/>
            <a:ext cx="20574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Three distinct product entry points.</a:t>
            </a:r>
          </a:p>
        </p:txBody>
      </p:sp>
      <p:sp>
        <p:nvSpPr>
          <p:cNvPr id="118" name="Rectangle 8"/>
          <p:cNvSpPr/>
          <p:nvPr/>
        </p:nvSpPr>
        <p:spPr>
          <a:xfrm>
            <a:off x="3456432" y="2057400"/>
            <a:ext cx="2560321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9"/>
          <p:cNvSpPr/>
          <p:nvPr/>
        </p:nvSpPr>
        <p:spPr>
          <a:xfrm>
            <a:off x="3456432" y="2057400"/>
            <a:ext cx="2560321" cy="54864"/>
          </a:xfrm>
          <a:prstGeom prst="rect">
            <a:avLst/>
          </a:prstGeom>
          <a:solidFill>
            <a:srgbClr val="4B7A7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10"/>
          <p:cNvSpPr txBox="1"/>
          <p:nvPr/>
        </p:nvSpPr>
        <p:spPr>
          <a:xfrm>
            <a:off x="3685031" y="2395727"/>
            <a:ext cx="21031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Regulated Engineering</a:t>
            </a:r>
          </a:p>
        </p:txBody>
      </p:sp>
      <p:sp>
        <p:nvSpPr>
          <p:cNvPr id="121" name="TextBox 11"/>
          <p:cNvSpPr txBox="1"/>
          <p:nvPr/>
        </p:nvSpPr>
        <p:spPr>
          <a:xfrm>
            <a:off x="3685031" y="2999232"/>
            <a:ext cx="20574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 route into complex, regulated transformation.</a:t>
            </a:r>
          </a:p>
        </p:txBody>
      </p:sp>
      <p:sp>
        <p:nvSpPr>
          <p:cNvPr id="122" name="Rectangle 12"/>
          <p:cNvSpPr/>
          <p:nvPr/>
        </p:nvSpPr>
        <p:spPr>
          <a:xfrm>
            <a:off x="6272784" y="2057400"/>
            <a:ext cx="2560321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Rectangle 13"/>
          <p:cNvSpPr/>
          <p:nvPr/>
        </p:nvSpPr>
        <p:spPr>
          <a:xfrm>
            <a:off x="6272784" y="2057400"/>
            <a:ext cx="2560321" cy="54864"/>
          </a:xfrm>
          <a:prstGeom prst="rect">
            <a:avLst/>
          </a:prstGeom>
          <a:solidFill>
            <a:srgbClr val="A77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14"/>
          <p:cNvSpPr txBox="1"/>
          <p:nvPr/>
        </p:nvSpPr>
        <p:spPr>
          <a:xfrm>
            <a:off x="6501384" y="2395727"/>
            <a:ext cx="210312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Managed Infrastructure</a:t>
            </a:r>
          </a:p>
        </p:txBody>
      </p:sp>
      <p:sp>
        <p:nvSpPr>
          <p:cNvPr id="125" name="TextBox 15"/>
          <p:cNvSpPr txBox="1"/>
          <p:nvPr/>
        </p:nvSpPr>
        <p:spPr>
          <a:xfrm>
            <a:off x="6501384" y="2999232"/>
            <a:ext cx="20574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 continuity layer when operational ownership is justified.</a:t>
            </a:r>
          </a:p>
        </p:txBody>
      </p:sp>
      <p:sp>
        <p:nvSpPr>
          <p:cNvPr id="126" name="Rectangle 16"/>
          <p:cNvSpPr/>
          <p:nvPr/>
        </p:nvSpPr>
        <p:spPr>
          <a:xfrm>
            <a:off x="9089135" y="2057400"/>
            <a:ext cx="2560321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17"/>
          <p:cNvSpPr/>
          <p:nvPr/>
        </p:nvSpPr>
        <p:spPr>
          <a:xfrm>
            <a:off x="9089136" y="2057400"/>
            <a:ext cx="2560319" cy="54864"/>
          </a:xfrm>
          <a:prstGeom prst="rect">
            <a:avLst/>
          </a:prstGeom>
          <a:solidFill>
            <a:srgbClr val="7D82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18"/>
          <p:cNvSpPr txBox="1"/>
          <p:nvPr/>
        </p:nvSpPr>
        <p:spPr>
          <a:xfrm>
            <a:off x="9317734" y="2395727"/>
            <a:ext cx="21031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Existing Relationships</a:t>
            </a:r>
          </a:p>
        </p:txBody>
      </p:sp>
      <p:sp>
        <p:nvSpPr>
          <p:cNvPr id="129" name="TextBox 19"/>
          <p:cNvSpPr txBox="1"/>
          <p:nvPr/>
        </p:nvSpPr>
        <p:spPr>
          <a:xfrm>
            <a:off x="9317734" y="2999232"/>
            <a:ext cx="20574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Earned trust that should be audited before chasing only new logos.</a:t>
            </a:r>
          </a:p>
        </p:txBody>
      </p:sp>
      <p:sp>
        <p:nvSpPr>
          <p:cNvPr id="130" name="Rectangle 20"/>
          <p:cNvSpPr/>
          <p:nvPr/>
        </p:nvSpPr>
        <p:spPr>
          <a:xfrm>
            <a:off x="640080" y="4754879"/>
            <a:ext cx="10972801" cy="1005840"/>
          </a:xfrm>
          <a:prstGeom prst="rect">
            <a:avLst/>
          </a:prstGeom>
          <a:solidFill>
            <a:srgbClr val="F5F5F2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21"/>
          <p:cNvSpPr txBox="1"/>
          <p:nvPr/>
        </p:nvSpPr>
        <p:spPr>
          <a:xfrm>
            <a:off x="960120" y="5029199"/>
            <a:ext cx="1033272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My starting point: choose the few problems and accounts where proof, urgency and expansion potential can compound.</a:t>
            </a:r>
          </a:p>
        </p:txBody>
      </p:sp>
      <p:sp>
        <p:nvSpPr>
          <p:cNvPr id="132" name="TextBox 22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STRATEGIC CHOICES</a:t>
            </a:r>
          </a:p>
        </p:txBody>
      </p:sp>
      <p:sp>
        <p:nvSpPr>
          <p:cNvPr id="135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I would not try to scale all four growth engines equally on day one.</a:t>
            </a:r>
          </a:p>
        </p:txBody>
      </p:sp>
      <p:sp>
        <p:nvSpPr>
          <p:cNvPr id="136" name="TextBox 3"/>
          <p:cNvSpPr txBox="1"/>
          <p:nvPr/>
        </p:nvSpPr>
        <p:spPr>
          <a:xfrm>
            <a:off x="640079" y="13075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first phase should create commercial learning and proof, not maximum activity.</a:t>
            </a:r>
          </a:p>
        </p:txBody>
      </p:sp>
      <p:sp>
        <p:nvSpPr>
          <p:cNvPr id="137" name="TextBox 4"/>
          <p:cNvSpPr txBox="1"/>
          <p:nvPr/>
        </p:nvSpPr>
        <p:spPr>
          <a:xfrm>
            <a:off x="704088" y="2057399"/>
            <a:ext cx="29260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568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8" name="TextBox 5"/>
          <p:cNvSpPr txBox="1"/>
          <p:nvPr/>
        </p:nvSpPr>
        <p:spPr>
          <a:xfrm>
            <a:off x="704087" y="2514599"/>
            <a:ext cx="224028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Audit what is already earned</a:t>
            </a:r>
          </a:p>
        </p:txBody>
      </p:sp>
      <p:sp>
        <p:nvSpPr>
          <p:cNvPr id="139" name="TextBox 6"/>
          <p:cNvSpPr txBox="1"/>
          <p:nvPr/>
        </p:nvSpPr>
        <p:spPr>
          <a:xfrm>
            <a:off x="704088" y="3310128"/>
            <a:ext cx="214884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Existing customers, relationships, proof and expansion signals.</a:t>
            </a:r>
          </a:p>
        </p:txBody>
      </p:sp>
      <p:sp>
        <p:nvSpPr>
          <p:cNvPr id="140" name="TextBox 7"/>
          <p:cNvSpPr txBox="1"/>
          <p:nvPr/>
        </p:nvSpPr>
        <p:spPr>
          <a:xfrm>
            <a:off x="3520440" y="2057399"/>
            <a:ext cx="29260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568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1" name="TextBox 8"/>
          <p:cNvSpPr txBox="1"/>
          <p:nvPr/>
        </p:nvSpPr>
        <p:spPr>
          <a:xfrm>
            <a:off x="3520440" y="2514599"/>
            <a:ext cx="224028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Select the best entry motions</a:t>
            </a:r>
          </a:p>
        </p:txBody>
      </p:sp>
      <p:sp>
        <p:nvSpPr>
          <p:cNvPr id="142" name="TextBox 9"/>
          <p:cNvSpPr txBox="1"/>
          <p:nvPr/>
        </p:nvSpPr>
        <p:spPr>
          <a:xfrm>
            <a:off x="3520440" y="3310128"/>
            <a:ext cx="214884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Prioritize products/services where buyer pain and proof can be tested quickly.</a:t>
            </a:r>
          </a:p>
        </p:txBody>
      </p:sp>
      <p:sp>
        <p:nvSpPr>
          <p:cNvPr id="143" name="TextBox 10"/>
          <p:cNvSpPr txBox="1"/>
          <p:nvPr/>
        </p:nvSpPr>
        <p:spPr>
          <a:xfrm>
            <a:off x="6336791" y="2057399"/>
            <a:ext cx="29260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568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4" name="TextBox 11"/>
          <p:cNvSpPr txBox="1"/>
          <p:nvPr/>
        </p:nvSpPr>
        <p:spPr>
          <a:xfrm>
            <a:off x="6336791" y="2514599"/>
            <a:ext cx="224028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Build named-account intelligence</a:t>
            </a:r>
          </a:p>
        </p:txBody>
      </p:sp>
      <p:sp>
        <p:nvSpPr>
          <p:cNvPr id="145" name="TextBox 12"/>
          <p:cNvSpPr txBox="1"/>
          <p:nvPr/>
        </p:nvSpPr>
        <p:spPr>
          <a:xfrm>
            <a:off x="6336791" y="3310128"/>
            <a:ext cx="214884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Use verified triggers and buyer maps instead of broad outbound volume.</a:t>
            </a:r>
          </a:p>
        </p:txBody>
      </p:sp>
      <p:sp>
        <p:nvSpPr>
          <p:cNvPr id="146" name="TextBox 13"/>
          <p:cNvSpPr txBox="1"/>
          <p:nvPr/>
        </p:nvSpPr>
        <p:spPr>
          <a:xfrm>
            <a:off x="9153143" y="2057399"/>
            <a:ext cx="29260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568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7" name="TextBox 14"/>
          <p:cNvSpPr txBox="1"/>
          <p:nvPr/>
        </p:nvSpPr>
        <p:spPr>
          <a:xfrm>
            <a:off x="9153143" y="2514599"/>
            <a:ext cx="224028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Create repeatable conversion</a:t>
            </a:r>
          </a:p>
        </p:txBody>
      </p:sp>
      <p:sp>
        <p:nvSpPr>
          <p:cNvPr id="148" name="TextBox 15"/>
          <p:cNvSpPr txBox="1"/>
          <p:nvPr/>
        </p:nvSpPr>
        <p:spPr>
          <a:xfrm>
            <a:off x="9153143" y="3310128"/>
            <a:ext cx="214884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Standardize discovery, business cases, technical validation and next-step discipline.</a:t>
            </a:r>
          </a:p>
        </p:txBody>
      </p:sp>
      <p:sp>
        <p:nvSpPr>
          <p:cNvPr id="149" name="Rectangle 16"/>
          <p:cNvSpPr/>
          <p:nvPr/>
        </p:nvSpPr>
        <p:spPr>
          <a:xfrm>
            <a:off x="658368" y="4754879"/>
            <a:ext cx="10314432" cy="18288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17"/>
          <p:cNvSpPr txBox="1"/>
          <p:nvPr/>
        </p:nvSpPr>
        <p:spPr>
          <a:xfrm>
            <a:off x="704088" y="5074920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WHAT I WOULD NOT DO</a:t>
            </a:r>
          </a:p>
        </p:txBody>
      </p:sp>
      <p:sp>
        <p:nvSpPr>
          <p:cNvPr id="151" name="TextBox 18"/>
          <p:cNvSpPr txBox="1"/>
          <p:nvPr/>
        </p:nvSpPr>
        <p:spPr>
          <a:xfrm>
            <a:off x="2880360" y="5001767"/>
            <a:ext cx="841248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Hire ahead of a proven motion, force cross-sell, forecast unsupported revenue, or treat meeting volume as commercial progress.</a:t>
            </a:r>
          </a:p>
        </p:txBody>
      </p:sp>
      <p:sp>
        <p:nvSpPr>
          <p:cNvPr id="152" name="TextBox 19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 txBox="1"/>
          <p:nvPr/>
        </p:nvSpPr>
        <p:spPr>
          <a:xfrm>
            <a:off x="640079" y="384047"/>
            <a:ext cx="108813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MARKET FOCUS</a:t>
            </a:r>
          </a:p>
        </p:txBody>
      </p:sp>
      <p:sp>
        <p:nvSpPr>
          <p:cNvPr id="155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Focus should follow evidence, not geography alone.</a:t>
            </a:r>
          </a:p>
        </p:txBody>
      </p:sp>
      <p:sp>
        <p:nvSpPr>
          <p:cNvPr id="156" name="TextBox 3"/>
          <p:cNvSpPr txBox="1"/>
          <p:nvPr/>
        </p:nvSpPr>
        <p:spPr>
          <a:xfrm>
            <a:off x="640079" y="13075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US and UAE are the initial priority markets; UK and India remain selective based on product applicability and account evidence.</a:t>
            </a:r>
          </a:p>
        </p:txBody>
      </p:sp>
      <p:sp>
        <p:nvSpPr>
          <p:cNvPr id="157" name="Rectangle 4"/>
          <p:cNvSpPr/>
          <p:nvPr/>
        </p:nvSpPr>
        <p:spPr>
          <a:xfrm>
            <a:off x="685800" y="1965959"/>
            <a:ext cx="5257800" cy="3246122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5"/>
          <p:cNvSpPr txBox="1"/>
          <p:nvPr/>
        </p:nvSpPr>
        <p:spPr>
          <a:xfrm>
            <a:off x="1005839" y="2267711"/>
            <a:ext cx="44805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Priority 1: US + UAE</a:t>
            </a:r>
          </a:p>
        </p:txBody>
      </p:sp>
      <p:sp>
        <p:nvSpPr>
          <p:cNvPr id="159" name="TextBox 6"/>
          <p:cNvSpPr txBox="1"/>
          <p:nvPr/>
        </p:nvSpPr>
        <p:spPr>
          <a:xfrm>
            <a:off x="1005839" y="2926079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0" name="TextBox 7"/>
          <p:cNvSpPr txBox="1"/>
          <p:nvPr/>
        </p:nvSpPr>
        <p:spPr>
          <a:xfrm>
            <a:off x="1261872" y="2926079"/>
            <a:ext cx="417880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Look for verifiable operational, modernization, AI, cloud or compliance triggers</a:t>
            </a:r>
          </a:p>
        </p:txBody>
      </p:sp>
      <p:sp>
        <p:nvSpPr>
          <p:cNvPr id="161" name="TextBox 8"/>
          <p:cNvSpPr txBox="1"/>
          <p:nvPr/>
        </p:nvSpPr>
        <p:spPr>
          <a:xfrm>
            <a:off x="1005839" y="3584447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2" name="TextBox 9"/>
          <p:cNvSpPr txBox="1"/>
          <p:nvPr/>
        </p:nvSpPr>
        <p:spPr>
          <a:xfrm>
            <a:off x="1261872" y="3584447"/>
            <a:ext cx="417880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Prioritize accounts with identifiable buyers and a contained first problem</a:t>
            </a:r>
          </a:p>
        </p:txBody>
      </p:sp>
      <p:sp>
        <p:nvSpPr>
          <p:cNvPr id="163" name="TextBox 10"/>
          <p:cNvSpPr txBox="1"/>
          <p:nvPr/>
        </p:nvSpPr>
        <p:spPr>
          <a:xfrm>
            <a:off x="1005839" y="4242815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4" name="TextBox 11"/>
          <p:cNvSpPr txBox="1"/>
          <p:nvPr/>
        </p:nvSpPr>
        <p:spPr>
          <a:xfrm>
            <a:off x="1261872" y="4242815"/>
            <a:ext cx="417880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Use ecosystem routes where they improve credibility or access</a:t>
            </a:r>
          </a:p>
        </p:txBody>
      </p:sp>
      <p:sp>
        <p:nvSpPr>
          <p:cNvPr id="165" name="Rectangle 12"/>
          <p:cNvSpPr/>
          <p:nvPr/>
        </p:nvSpPr>
        <p:spPr>
          <a:xfrm>
            <a:off x="6236208" y="1965959"/>
            <a:ext cx="5257801" cy="3246122"/>
          </a:xfrm>
          <a:prstGeom prst="rect">
            <a:avLst/>
          </a:prstGeom>
          <a:solidFill>
            <a:srgbClr val="F5F5F2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13"/>
          <p:cNvSpPr txBox="1"/>
          <p:nvPr/>
        </p:nvSpPr>
        <p:spPr>
          <a:xfrm>
            <a:off x="6556248" y="2267711"/>
            <a:ext cx="44805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Priority 2: UK + India</a:t>
            </a:r>
          </a:p>
        </p:txBody>
      </p:sp>
      <p:sp>
        <p:nvSpPr>
          <p:cNvPr id="167" name="TextBox 14"/>
          <p:cNvSpPr txBox="1"/>
          <p:nvPr/>
        </p:nvSpPr>
        <p:spPr>
          <a:xfrm>
            <a:off x="6556248" y="2926079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8" name="TextBox 15"/>
          <p:cNvSpPr txBox="1"/>
          <p:nvPr/>
        </p:nvSpPr>
        <p:spPr>
          <a:xfrm>
            <a:off x="6812279" y="2926079"/>
            <a:ext cx="417880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Pursue selectively rather than by default</a:t>
            </a:r>
          </a:p>
        </p:txBody>
      </p:sp>
      <p:sp>
        <p:nvSpPr>
          <p:cNvPr id="169" name="TextBox 16"/>
          <p:cNvSpPr txBox="1"/>
          <p:nvPr/>
        </p:nvSpPr>
        <p:spPr>
          <a:xfrm>
            <a:off x="6556248" y="3584447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70" name="TextBox 17"/>
          <p:cNvSpPr txBox="1"/>
          <p:nvPr/>
        </p:nvSpPr>
        <p:spPr>
          <a:xfrm>
            <a:off x="6812279" y="3584447"/>
            <a:ext cx="417880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Match the engine to market and regulatory applicability</a:t>
            </a:r>
          </a:p>
        </p:txBody>
      </p:sp>
      <p:sp>
        <p:nvSpPr>
          <p:cNvPr id="171" name="TextBox 18"/>
          <p:cNvSpPr txBox="1"/>
          <p:nvPr/>
        </p:nvSpPr>
        <p:spPr>
          <a:xfrm>
            <a:off x="6556248" y="4242815"/>
            <a:ext cx="10972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72" name="TextBox 19"/>
          <p:cNvSpPr txBox="1"/>
          <p:nvPr/>
        </p:nvSpPr>
        <p:spPr>
          <a:xfrm>
            <a:off x="6812279" y="4242815"/>
            <a:ext cx="417880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Let account-level evidence override generic market enthusiasm</a:t>
            </a:r>
          </a:p>
        </p:txBody>
      </p:sp>
      <p:sp>
        <p:nvSpPr>
          <p:cNvPr id="173" name="TextBox 20"/>
          <p:cNvSpPr txBox="1"/>
          <p:nvPr/>
        </p:nvSpPr>
        <p:spPr>
          <a:xfrm>
            <a:off x="731519" y="5650991"/>
            <a:ext cx="106984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Principle: Market opportunity tells us where to investigate. Triggers determine where we act.</a:t>
            </a:r>
          </a:p>
        </p:txBody>
      </p:sp>
      <p:sp>
        <p:nvSpPr>
          <p:cNvPr id="174" name="TextBox 21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ACCOUNT SELECTION</a:t>
            </a:r>
          </a:p>
        </p:txBody>
      </p:sp>
      <p:sp>
        <p:nvSpPr>
          <p:cNvPr id="177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first commercial advantage is deciding where not to spend time.</a:t>
            </a:r>
          </a:p>
        </p:txBody>
      </p:sp>
      <p:sp>
        <p:nvSpPr>
          <p:cNvPr id="178" name="TextBox 3"/>
          <p:cNvSpPr txBox="1"/>
          <p:nvPr/>
        </p:nvSpPr>
        <p:spPr>
          <a:xfrm>
            <a:off x="640079" y="13075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 named account should earn attention through evidence, not fit an ICP on paper.</a:t>
            </a:r>
          </a:p>
        </p:txBody>
      </p:sp>
      <p:sp>
        <p:nvSpPr>
          <p:cNvPr id="179" name="Rectangle 4"/>
          <p:cNvSpPr/>
          <p:nvPr/>
        </p:nvSpPr>
        <p:spPr>
          <a:xfrm>
            <a:off x="658367" y="2148839"/>
            <a:ext cx="1993394" cy="2057401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5"/>
          <p:cNvSpPr txBox="1"/>
          <p:nvPr/>
        </p:nvSpPr>
        <p:spPr>
          <a:xfrm>
            <a:off x="868678" y="2395727"/>
            <a:ext cx="157276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FIT</a:t>
            </a:r>
          </a:p>
        </p:txBody>
      </p:sp>
      <p:sp>
        <p:nvSpPr>
          <p:cNvPr id="181" name="TextBox 6"/>
          <p:cNvSpPr txBox="1"/>
          <p:nvPr/>
        </p:nvSpPr>
        <p:spPr>
          <a:xfrm>
            <a:off x="868678" y="2907792"/>
            <a:ext cx="157276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Is this the right type of account?</a:t>
            </a:r>
          </a:p>
        </p:txBody>
      </p:sp>
      <p:sp>
        <p:nvSpPr>
          <p:cNvPr id="182" name="Rectangle 7"/>
          <p:cNvSpPr/>
          <p:nvPr/>
        </p:nvSpPr>
        <p:spPr>
          <a:xfrm>
            <a:off x="2926079" y="2148839"/>
            <a:ext cx="1993393" cy="2057401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8"/>
          <p:cNvSpPr txBox="1"/>
          <p:nvPr/>
        </p:nvSpPr>
        <p:spPr>
          <a:xfrm>
            <a:off x="3136392" y="2395727"/>
            <a:ext cx="157276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TRIGGER</a:t>
            </a:r>
          </a:p>
        </p:txBody>
      </p:sp>
      <p:sp>
        <p:nvSpPr>
          <p:cNvPr id="184" name="TextBox 9"/>
          <p:cNvSpPr txBox="1"/>
          <p:nvPr/>
        </p:nvSpPr>
        <p:spPr>
          <a:xfrm>
            <a:off x="3136392" y="2907792"/>
            <a:ext cx="157276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Why now?</a:t>
            </a:r>
          </a:p>
        </p:txBody>
      </p:sp>
      <p:sp>
        <p:nvSpPr>
          <p:cNvPr id="185" name="Rectangle 10"/>
          <p:cNvSpPr/>
          <p:nvPr/>
        </p:nvSpPr>
        <p:spPr>
          <a:xfrm>
            <a:off x="5193791" y="2148839"/>
            <a:ext cx="1993393" cy="2057401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11"/>
          <p:cNvSpPr txBox="1"/>
          <p:nvPr/>
        </p:nvSpPr>
        <p:spPr>
          <a:xfrm>
            <a:off x="5404103" y="2395727"/>
            <a:ext cx="157276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PAIN</a:t>
            </a:r>
          </a:p>
        </p:txBody>
      </p:sp>
      <p:sp>
        <p:nvSpPr>
          <p:cNvPr id="187" name="TextBox 12"/>
          <p:cNvSpPr txBox="1"/>
          <p:nvPr/>
        </p:nvSpPr>
        <p:spPr>
          <a:xfrm>
            <a:off x="5404103" y="2907792"/>
            <a:ext cx="1572767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What may be economically meaningful?</a:t>
            </a:r>
          </a:p>
        </p:txBody>
      </p:sp>
      <p:sp>
        <p:nvSpPr>
          <p:cNvPr id="188" name="Rectangle 13"/>
          <p:cNvSpPr/>
          <p:nvPr/>
        </p:nvSpPr>
        <p:spPr>
          <a:xfrm>
            <a:off x="7461504" y="2148839"/>
            <a:ext cx="1993393" cy="2057401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4"/>
          <p:cNvSpPr txBox="1"/>
          <p:nvPr/>
        </p:nvSpPr>
        <p:spPr>
          <a:xfrm>
            <a:off x="7671815" y="2395727"/>
            <a:ext cx="157276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ACCESS</a:t>
            </a:r>
          </a:p>
        </p:txBody>
      </p:sp>
      <p:sp>
        <p:nvSpPr>
          <p:cNvPr id="190" name="TextBox 15"/>
          <p:cNvSpPr txBox="1"/>
          <p:nvPr/>
        </p:nvSpPr>
        <p:spPr>
          <a:xfrm>
            <a:off x="7671815" y="2907792"/>
            <a:ext cx="157276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Can we reach the buying group?</a:t>
            </a:r>
          </a:p>
        </p:txBody>
      </p:sp>
      <p:sp>
        <p:nvSpPr>
          <p:cNvPr id="191" name="Rectangle 16"/>
          <p:cNvSpPr/>
          <p:nvPr/>
        </p:nvSpPr>
        <p:spPr>
          <a:xfrm>
            <a:off x="9729216" y="2148839"/>
            <a:ext cx="1993393" cy="2057401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7"/>
          <p:cNvSpPr txBox="1"/>
          <p:nvPr/>
        </p:nvSpPr>
        <p:spPr>
          <a:xfrm>
            <a:off x="9939527" y="2395727"/>
            <a:ext cx="157276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EXPANSION</a:t>
            </a:r>
          </a:p>
        </p:txBody>
      </p:sp>
      <p:sp>
        <p:nvSpPr>
          <p:cNvPr id="193" name="TextBox 18"/>
          <p:cNvSpPr txBox="1"/>
          <p:nvPr/>
        </p:nvSpPr>
        <p:spPr>
          <a:xfrm>
            <a:off x="9939527" y="2907792"/>
            <a:ext cx="157276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Can value legitimately deepen?</a:t>
            </a:r>
          </a:p>
        </p:txBody>
      </p:sp>
      <p:sp>
        <p:nvSpPr>
          <p:cNvPr id="194" name="TextBox 19"/>
          <p:cNvSpPr txBox="1"/>
          <p:nvPr/>
        </p:nvSpPr>
        <p:spPr>
          <a:xfrm>
            <a:off x="777239" y="4709159"/>
            <a:ext cx="22860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DISCIPLINE</a:t>
            </a:r>
          </a:p>
        </p:txBody>
      </p:sp>
      <p:sp>
        <p:nvSpPr>
          <p:cNvPr id="195" name="TextBox 20"/>
          <p:cNvSpPr txBox="1"/>
          <p:nvPr/>
        </p:nvSpPr>
        <p:spPr>
          <a:xfrm>
            <a:off x="777239" y="5102352"/>
            <a:ext cx="1051560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0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t>FACT  →  HYPOTHESIS  →  DISCOVERY QUESTION</a:t>
            </a:r>
          </a:p>
          <a:p>
            <a:pPr algn="ctr">
              <a:defRPr sz="20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t>No trigger, no Tier A. No evidence, no invented pain.</a:t>
            </a:r>
          </a:p>
        </p:txBody>
      </p:sp>
      <p:sp>
        <p:nvSpPr>
          <p:cNvPr id="196" name="TextBox 21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CONVERSION</a:t>
            </a:r>
          </a:p>
        </p:txBody>
      </p:sp>
      <p:sp>
        <p:nvSpPr>
          <p:cNvPr id="199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 good opportunity should become clearer as it moves forward.</a:t>
            </a:r>
          </a:p>
        </p:txBody>
      </p:sp>
      <p:sp>
        <p:nvSpPr>
          <p:cNvPr id="200" name="TextBox 3"/>
          <p:cNvSpPr txBox="1"/>
          <p:nvPr/>
        </p:nvSpPr>
        <p:spPr>
          <a:xfrm>
            <a:off x="640079" y="1307591"/>
            <a:ext cx="106984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objective is not to advance stages. It is to reduce commercial uncertainty.</a:t>
            </a:r>
          </a:p>
        </p:txBody>
      </p:sp>
      <p:sp>
        <p:nvSpPr>
          <p:cNvPr id="201" name="Rectangle 4"/>
          <p:cNvSpPr/>
          <p:nvPr/>
        </p:nvSpPr>
        <p:spPr>
          <a:xfrm>
            <a:off x="658367" y="2057400"/>
            <a:ext cx="1993394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5"/>
          <p:cNvSpPr txBox="1"/>
          <p:nvPr/>
        </p:nvSpPr>
        <p:spPr>
          <a:xfrm>
            <a:off x="850392" y="2377439"/>
            <a:ext cx="160934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Diagnose</a:t>
            </a:r>
          </a:p>
        </p:txBody>
      </p:sp>
      <p:sp>
        <p:nvSpPr>
          <p:cNvPr id="203" name="TextBox 6"/>
          <p:cNvSpPr txBox="1"/>
          <p:nvPr/>
        </p:nvSpPr>
        <p:spPr>
          <a:xfrm>
            <a:off x="850392" y="2971799"/>
            <a:ext cx="160934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Problem + reason now</a:t>
            </a:r>
          </a:p>
        </p:txBody>
      </p:sp>
      <p:sp>
        <p:nvSpPr>
          <p:cNvPr id="204" name="TextBox 7"/>
          <p:cNvSpPr txBox="1"/>
          <p:nvPr/>
        </p:nvSpPr>
        <p:spPr>
          <a:xfrm>
            <a:off x="2688335" y="2743199"/>
            <a:ext cx="1828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7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5" name="Rectangle 8"/>
          <p:cNvSpPr/>
          <p:nvPr/>
        </p:nvSpPr>
        <p:spPr>
          <a:xfrm>
            <a:off x="2926079" y="2057400"/>
            <a:ext cx="1993393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TextBox 9"/>
          <p:cNvSpPr txBox="1"/>
          <p:nvPr/>
        </p:nvSpPr>
        <p:spPr>
          <a:xfrm>
            <a:off x="3118103" y="2377439"/>
            <a:ext cx="1609345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Quantify</a:t>
            </a:r>
          </a:p>
        </p:txBody>
      </p:sp>
      <p:sp>
        <p:nvSpPr>
          <p:cNvPr id="207" name="TextBox 10"/>
          <p:cNvSpPr txBox="1"/>
          <p:nvPr/>
        </p:nvSpPr>
        <p:spPr>
          <a:xfrm>
            <a:off x="3118103" y="2971799"/>
            <a:ext cx="1609345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Customer-owned impact</a:t>
            </a:r>
          </a:p>
        </p:txBody>
      </p:sp>
      <p:sp>
        <p:nvSpPr>
          <p:cNvPr id="208" name="TextBox 11"/>
          <p:cNvSpPr txBox="1"/>
          <p:nvPr/>
        </p:nvSpPr>
        <p:spPr>
          <a:xfrm>
            <a:off x="4956048" y="2743199"/>
            <a:ext cx="1828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7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9" name="Rectangle 12"/>
          <p:cNvSpPr/>
          <p:nvPr/>
        </p:nvSpPr>
        <p:spPr>
          <a:xfrm>
            <a:off x="5193791" y="2057400"/>
            <a:ext cx="1993393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13"/>
          <p:cNvSpPr txBox="1"/>
          <p:nvPr/>
        </p:nvSpPr>
        <p:spPr>
          <a:xfrm>
            <a:off x="5385816" y="2377439"/>
            <a:ext cx="1609345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Validate</a:t>
            </a:r>
          </a:p>
        </p:txBody>
      </p:sp>
      <p:sp>
        <p:nvSpPr>
          <p:cNvPr id="211" name="TextBox 14"/>
          <p:cNvSpPr txBox="1"/>
          <p:nvPr/>
        </p:nvSpPr>
        <p:spPr>
          <a:xfrm>
            <a:off x="5385816" y="2971799"/>
            <a:ext cx="1609345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Technical + proof path</a:t>
            </a:r>
          </a:p>
        </p:txBody>
      </p:sp>
      <p:sp>
        <p:nvSpPr>
          <p:cNvPr id="212" name="TextBox 15"/>
          <p:cNvSpPr txBox="1"/>
          <p:nvPr/>
        </p:nvSpPr>
        <p:spPr>
          <a:xfrm>
            <a:off x="7223760" y="2743199"/>
            <a:ext cx="1828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7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3" name="Rectangle 16"/>
          <p:cNvSpPr/>
          <p:nvPr/>
        </p:nvSpPr>
        <p:spPr>
          <a:xfrm>
            <a:off x="7461504" y="2057400"/>
            <a:ext cx="1993393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17"/>
          <p:cNvSpPr txBox="1"/>
          <p:nvPr/>
        </p:nvSpPr>
        <p:spPr>
          <a:xfrm>
            <a:off x="7653527" y="2377439"/>
            <a:ext cx="1609345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Navigate</a:t>
            </a:r>
          </a:p>
        </p:txBody>
      </p:sp>
      <p:sp>
        <p:nvSpPr>
          <p:cNvPr id="215" name="TextBox 18"/>
          <p:cNvSpPr txBox="1"/>
          <p:nvPr/>
        </p:nvSpPr>
        <p:spPr>
          <a:xfrm>
            <a:off x="7653527" y="2971799"/>
            <a:ext cx="160934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Buying process + stakeholders</a:t>
            </a:r>
          </a:p>
        </p:txBody>
      </p:sp>
      <p:sp>
        <p:nvSpPr>
          <p:cNvPr id="216" name="TextBox 19"/>
          <p:cNvSpPr txBox="1"/>
          <p:nvPr/>
        </p:nvSpPr>
        <p:spPr>
          <a:xfrm>
            <a:off x="9491472" y="2743199"/>
            <a:ext cx="18288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7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7" name="Rectangle 20"/>
          <p:cNvSpPr/>
          <p:nvPr/>
        </p:nvSpPr>
        <p:spPr>
          <a:xfrm>
            <a:off x="9729216" y="2057400"/>
            <a:ext cx="1993393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21"/>
          <p:cNvSpPr txBox="1"/>
          <p:nvPr/>
        </p:nvSpPr>
        <p:spPr>
          <a:xfrm>
            <a:off x="9921239" y="2377439"/>
            <a:ext cx="1609345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Commit</a:t>
            </a:r>
          </a:p>
        </p:txBody>
      </p:sp>
      <p:sp>
        <p:nvSpPr>
          <p:cNvPr id="219" name="TextBox 22"/>
          <p:cNvSpPr txBox="1"/>
          <p:nvPr/>
        </p:nvSpPr>
        <p:spPr>
          <a:xfrm>
            <a:off x="9921239" y="2971799"/>
            <a:ext cx="1609345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Commercial decision</a:t>
            </a:r>
          </a:p>
        </p:txBody>
      </p:sp>
      <p:sp>
        <p:nvSpPr>
          <p:cNvPr id="220" name="Rectangle 23"/>
          <p:cNvSpPr/>
          <p:nvPr/>
        </p:nvSpPr>
        <p:spPr>
          <a:xfrm>
            <a:off x="658368" y="4389120"/>
            <a:ext cx="10972801" cy="1143001"/>
          </a:xfrm>
          <a:prstGeom prst="rect">
            <a:avLst/>
          </a:prstGeom>
          <a:solidFill>
            <a:srgbClr val="F5F5F2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24"/>
          <p:cNvSpPr txBox="1"/>
          <p:nvPr/>
        </p:nvSpPr>
        <p:spPr>
          <a:xfrm>
            <a:off x="960120" y="4681728"/>
            <a:ext cx="1033272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No demo before diagnosis. No proposal before quantified impact. No forecast without a critical event and buying process.</a:t>
            </a:r>
          </a:p>
        </p:txBody>
      </p:sp>
      <p:sp>
        <p:nvSpPr>
          <p:cNvPr id="222" name="TextBox 25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ACCOUNT GROWTH</a:t>
            </a:r>
          </a:p>
        </p:txBody>
      </p:sp>
      <p:sp>
        <p:nvSpPr>
          <p:cNvPr id="225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first contract should create information about the next legitimate problem.</a:t>
            </a:r>
          </a:p>
        </p:txBody>
      </p:sp>
      <p:sp>
        <p:nvSpPr>
          <p:cNvPr id="226" name="TextBox 3"/>
          <p:cNvSpPr txBox="1"/>
          <p:nvPr/>
        </p:nvSpPr>
        <p:spPr>
          <a:xfrm>
            <a:off x="640079" y="13075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Expansion should be earned through implementation insight, customer outcomes and executive relevance.</a:t>
            </a:r>
          </a:p>
        </p:txBody>
      </p:sp>
      <p:sp>
        <p:nvSpPr>
          <p:cNvPr id="227" name="TextBox 4"/>
          <p:cNvSpPr txBox="1"/>
          <p:nvPr/>
        </p:nvSpPr>
        <p:spPr>
          <a:xfrm>
            <a:off x="795527" y="1993392"/>
            <a:ext cx="224028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Product expansion</a:t>
            </a:r>
          </a:p>
        </p:txBody>
      </p:sp>
      <p:sp>
        <p:nvSpPr>
          <p:cNvPr id="228" name="TextBox 5"/>
          <p:cNvSpPr txBox="1"/>
          <p:nvPr/>
        </p:nvSpPr>
        <p:spPr>
          <a:xfrm>
            <a:off x="3108960" y="2011679"/>
            <a:ext cx="781812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More modules, workflows, users, sites or operating scope.</a:t>
            </a:r>
          </a:p>
        </p:txBody>
      </p:sp>
      <p:sp>
        <p:nvSpPr>
          <p:cNvPr id="229" name="Rectangle 6"/>
          <p:cNvSpPr/>
          <p:nvPr/>
        </p:nvSpPr>
        <p:spPr>
          <a:xfrm>
            <a:off x="749807" y="2651760"/>
            <a:ext cx="10451594" cy="18288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7"/>
          <p:cNvSpPr txBox="1"/>
          <p:nvPr/>
        </p:nvSpPr>
        <p:spPr>
          <a:xfrm>
            <a:off x="795527" y="2926079"/>
            <a:ext cx="224028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Engineering depth</a:t>
            </a:r>
          </a:p>
        </p:txBody>
      </p:sp>
      <p:sp>
        <p:nvSpPr>
          <p:cNvPr id="231" name="TextBox 8"/>
          <p:cNvSpPr txBox="1"/>
          <p:nvPr/>
        </p:nvSpPr>
        <p:spPr>
          <a:xfrm>
            <a:off x="3108960" y="2944367"/>
            <a:ext cx="781812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Integration, data, AI, modernization or compliance needs exposed by delivery.</a:t>
            </a:r>
          </a:p>
        </p:txBody>
      </p:sp>
      <p:sp>
        <p:nvSpPr>
          <p:cNvPr id="232" name="Rectangle 9"/>
          <p:cNvSpPr/>
          <p:nvPr/>
        </p:nvSpPr>
        <p:spPr>
          <a:xfrm>
            <a:off x="749807" y="3584447"/>
            <a:ext cx="10451594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10"/>
          <p:cNvSpPr txBox="1"/>
          <p:nvPr/>
        </p:nvSpPr>
        <p:spPr>
          <a:xfrm>
            <a:off x="795527" y="3858767"/>
            <a:ext cx="224028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Operational continuity</a:t>
            </a:r>
          </a:p>
        </p:txBody>
      </p:sp>
      <p:sp>
        <p:nvSpPr>
          <p:cNvPr id="234" name="TextBox 11"/>
          <p:cNvSpPr txBox="1"/>
          <p:nvPr/>
        </p:nvSpPr>
        <p:spPr>
          <a:xfrm>
            <a:off x="3108960" y="3877056"/>
            <a:ext cx="7818120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Managed infrastructure only where ongoing ownership becomes a real requirement.</a:t>
            </a:r>
          </a:p>
        </p:txBody>
      </p:sp>
      <p:sp>
        <p:nvSpPr>
          <p:cNvPr id="235" name="Rectangle 12"/>
          <p:cNvSpPr/>
          <p:nvPr/>
        </p:nvSpPr>
        <p:spPr>
          <a:xfrm>
            <a:off x="749807" y="4517135"/>
            <a:ext cx="10451594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13"/>
          <p:cNvSpPr txBox="1"/>
          <p:nvPr/>
        </p:nvSpPr>
        <p:spPr>
          <a:xfrm>
            <a:off x="795527" y="4791455"/>
            <a:ext cx="224028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Strategic relationship</a:t>
            </a:r>
          </a:p>
        </p:txBody>
      </p:sp>
      <p:sp>
        <p:nvSpPr>
          <p:cNvPr id="237" name="TextBox 14"/>
          <p:cNvSpPr txBox="1"/>
          <p:nvPr/>
        </p:nvSpPr>
        <p:spPr>
          <a:xfrm>
            <a:off x="3108960" y="4809744"/>
            <a:ext cx="781812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Customer success, executive reviews, retention and referenceability.</a:t>
            </a:r>
          </a:p>
        </p:txBody>
      </p:sp>
      <p:sp>
        <p:nvSpPr>
          <p:cNvPr id="238" name="Rectangle 15"/>
          <p:cNvSpPr/>
          <p:nvPr/>
        </p:nvSpPr>
        <p:spPr>
          <a:xfrm>
            <a:off x="749807" y="5449823"/>
            <a:ext cx="10451594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16"/>
          <p:cNvSpPr txBox="1"/>
          <p:nvPr/>
        </p:nvSpPr>
        <p:spPr>
          <a:xfrm>
            <a:off x="795528" y="5833871"/>
            <a:ext cx="10424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Cross-sell only when the next problem is visible. Capability alone is not a reason to sell.</a:t>
            </a:r>
          </a:p>
        </p:txBody>
      </p:sp>
      <p:sp>
        <p:nvSpPr>
          <p:cNvPr id="240" name="TextBox 17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EXECUTION EVIDENCE</a:t>
            </a:r>
          </a:p>
        </p:txBody>
      </p:sp>
      <p:sp>
        <p:nvSpPr>
          <p:cNvPr id="243" name="TextBox 2"/>
          <p:cNvSpPr txBox="1"/>
          <p:nvPr/>
        </p:nvSpPr>
        <p:spPr>
          <a:xfrm>
            <a:off x="640079" y="713232"/>
            <a:ext cx="10881361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relevant pattern in my experience is translating business problems into commercial and delivery action.</a:t>
            </a:r>
          </a:p>
        </p:txBody>
      </p:sp>
      <p:sp>
        <p:nvSpPr>
          <p:cNvPr id="244" name="TextBox 3"/>
          <p:cNvSpPr txBox="1"/>
          <p:nvPr/>
        </p:nvSpPr>
        <p:spPr>
          <a:xfrm>
            <a:off x="640079" y="15107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These examples are intentionally anonymized and are not claims about The Algorithm.</a:t>
            </a:r>
          </a:p>
        </p:txBody>
      </p:sp>
      <p:sp>
        <p:nvSpPr>
          <p:cNvPr id="245" name="TextBox 4"/>
          <p:cNvSpPr txBox="1"/>
          <p:nvPr/>
        </p:nvSpPr>
        <p:spPr>
          <a:xfrm>
            <a:off x="704087" y="1874518"/>
            <a:ext cx="210312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Insurance / Enterprise Tech</a:t>
            </a:r>
          </a:p>
        </p:txBody>
      </p:sp>
      <p:sp>
        <p:nvSpPr>
          <p:cNvPr id="246" name="TextBox 5"/>
          <p:cNvSpPr txBox="1"/>
          <p:nvPr/>
        </p:nvSpPr>
        <p:spPr>
          <a:xfrm>
            <a:off x="3017519" y="1874518"/>
            <a:ext cx="23317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Guidewire-related requirements</a:t>
            </a:r>
          </a:p>
        </p:txBody>
      </p:sp>
      <p:sp>
        <p:nvSpPr>
          <p:cNvPr id="247" name="TextBox 6"/>
          <p:cNvSpPr txBox="1"/>
          <p:nvPr/>
        </p:nvSpPr>
        <p:spPr>
          <a:xfrm>
            <a:off x="5577839" y="1874518"/>
            <a:ext cx="55321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Discovery, solution/resource alignment, technical-commercial coordination</a:t>
            </a:r>
          </a:p>
        </p:txBody>
      </p:sp>
      <p:sp>
        <p:nvSpPr>
          <p:cNvPr id="248" name="Rectangle 7"/>
          <p:cNvSpPr/>
          <p:nvPr/>
        </p:nvSpPr>
        <p:spPr>
          <a:xfrm>
            <a:off x="658368" y="2404872"/>
            <a:ext cx="10543032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8"/>
          <p:cNvSpPr txBox="1"/>
          <p:nvPr/>
        </p:nvSpPr>
        <p:spPr>
          <a:xfrm>
            <a:off x="704087" y="2624327"/>
            <a:ext cx="210312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Laboratory / Testing</a:t>
            </a:r>
          </a:p>
        </p:txBody>
      </p:sp>
      <p:sp>
        <p:nvSpPr>
          <p:cNvPr id="250" name="TextBox 9"/>
          <p:cNvSpPr txBox="1"/>
          <p:nvPr/>
        </p:nvSpPr>
        <p:spPr>
          <a:xfrm>
            <a:off x="3017519" y="2624327"/>
            <a:ext cx="23317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Workflow digitization</a:t>
            </a:r>
          </a:p>
        </p:txBody>
      </p:sp>
      <p:sp>
        <p:nvSpPr>
          <p:cNvPr id="251" name="TextBox 10"/>
          <p:cNvSpPr txBox="1"/>
          <p:nvPr/>
        </p:nvSpPr>
        <p:spPr>
          <a:xfrm>
            <a:off x="5577839" y="2624327"/>
            <a:ext cx="55321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Workflow mapping, SaaS positioning, implementation discussions</a:t>
            </a:r>
          </a:p>
        </p:txBody>
      </p:sp>
      <p:sp>
        <p:nvSpPr>
          <p:cNvPr id="252" name="Rectangle 11"/>
          <p:cNvSpPr/>
          <p:nvPr/>
        </p:nvSpPr>
        <p:spPr>
          <a:xfrm>
            <a:off x="658368" y="3154678"/>
            <a:ext cx="10543032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12"/>
          <p:cNvSpPr txBox="1"/>
          <p:nvPr/>
        </p:nvSpPr>
        <p:spPr>
          <a:xfrm>
            <a:off x="704087" y="3374135"/>
            <a:ext cx="210312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Food / FMCG Quality</a:t>
            </a:r>
          </a:p>
        </p:txBody>
      </p:sp>
      <p:sp>
        <p:nvSpPr>
          <p:cNvPr id="254" name="TextBox 13"/>
          <p:cNvSpPr txBox="1"/>
          <p:nvPr/>
        </p:nvSpPr>
        <p:spPr>
          <a:xfrm>
            <a:off x="3017519" y="3374135"/>
            <a:ext cx="23317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Quality + traceability</a:t>
            </a:r>
          </a:p>
        </p:txBody>
      </p:sp>
      <p:sp>
        <p:nvSpPr>
          <p:cNvPr id="255" name="TextBox 14"/>
          <p:cNvSpPr txBox="1"/>
          <p:nvPr/>
        </p:nvSpPr>
        <p:spPr>
          <a:xfrm>
            <a:off x="5577839" y="3374135"/>
            <a:ext cx="55321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Digital workflow design, product collaboration, adoption</a:t>
            </a:r>
          </a:p>
        </p:txBody>
      </p:sp>
      <p:sp>
        <p:nvSpPr>
          <p:cNvPr id="256" name="Rectangle 15"/>
          <p:cNvSpPr/>
          <p:nvPr/>
        </p:nvSpPr>
        <p:spPr>
          <a:xfrm>
            <a:off x="658368" y="3904486"/>
            <a:ext cx="10543032" cy="18288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16"/>
          <p:cNvSpPr txBox="1"/>
          <p:nvPr/>
        </p:nvSpPr>
        <p:spPr>
          <a:xfrm>
            <a:off x="704087" y="4123944"/>
            <a:ext cx="210312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Energy Trading</a:t>
            </a:r>
          </a:p>
        </p:txBody>
      </p:sp>
      <p:sp>
        <p:nvSpPr>
          <p:cNvPr id="258" name="TextBox 17"/>
          <p:cNvSpPr txBox="1"/>
          <p:nvPr/>
        </p:nvSpPr>
        <p:spPr>
          <a:xfrm>
            <a:off x="3017519" y="4123944"/>
            <a:ext cx="23317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Niche ETRM engineering</a:t>
            </a:r>
          </a:p>
        </p:txBody>
      </p:sp>
      <p:sp>
        <p:nvSpPr>
          <p:cNvPr id="259" name="TextBox 18"/>
          <p:cNvSpPr txBox="1"/>
          <p:nvPr/>
        </p:nvSpPr>
        <p:spPr>
          <a:xfrm>
            <a:off x="5577839" y="4123944"/>
            <a:ext cx="55321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Requirement alignment, capability positioning, delivery coordination</a:t>
            </a:r>
          </a:p>
        </p:txBody>
      </p:sp>
      <p:sp>
        <p:nvSpPr>
          <p:cNvPr id="260" name="Rectangle 19"/>
          <p:cNvSpPr/>
          <p:nvPr/>
        </p:nvSpPr>
        <p:spPr>
          <a:xfrm>
            <a:off x="658368" y="4654296"/>
            <a:ext cx="10543032" cy="18288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20"/>
          <p:cNvSpPr txBox="1"/>
          <p:nvPr/>
        </p:nvSpPr>
        <p:spPr>
          <a:xfrm>
            <a:off x="704087" y="4873752"/>
            <a:ext cx="210312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AI / Enterprise Software</a:t>
            </a:r>
          </a:p>
        </p:txBody>
      </p:sp>
      <p:sp>
        <p:nvSpPr>
          <p:cNvPr id="262" name="TextBox 21"/>
          <p:cNvSpPr txBox="1"/>
          <p:nvPr/>
        </p:nvSpPr>
        <p:spPr>
          <a:xfrm>
            <a:off x="3017519" y="4873752"/>
            <a:ext cx="23317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AI-enabled workflows</a:t>
            </a:r>
          </a:p>
        </p:txBody>
      </p:sp>
      <p:sp>
        <p:nvSpPr>
          <p:cNvPr id="263" name="TextBox 22"/>
          <p:cNvSpPr txBox="1"/>
          <p:nvPr/>
        </p:nvSpPr>
        <p:spPr>
          <a:xfrm>
            <a:off x="5577839" y="4873752"/>
            <a:ext cx="55321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Opportunity shaping, AI/NLP positioning, technical-commercial coordination</a:t>
            </a:r>
          </a:p>
        </p:txBody>
      </p:sp>
      <p:sp>
        <p:nvSpPr>
          <p:cNvPr id="264" name="Rectangle 23"/>
          <p:cNvSpPr/>
          <p:nvPr/>
        </p:nvSpPr>
        <p:spPr>
          <a:xfrm>
            <a:off x="658368" y="5404103"/>
            <a:ext cx="10543032" cy="18288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24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COMMERCIAL OWNERSHIP</a:t>
            </a:r>
          </a:p>
        </p:txBody>
      </p:sp>
      <p:sp>
        <p:nvSpPr>
          <p:cNvPr id="268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I would own the commercial motion, not just the top of the funnel.</a:t>
            </a:r>
          </a:p>
        </p:txBody>
      </p:sp>
      <p:sp>
        <p:nvSpPr>
          <p:cNvPr id="269" name="TextBox 3"/>
          <p:cNvSpPr txBox="1"/>
          <p:nvPr/>
        </p:nvSpPr>
        <p:spPr>
          <a:xfrm>
            <a:off x="640079" y="13075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Technical leadership remains engaged where technical authority and company commitments matter.</a:t>
            </a:r>
          </a:p>
        </p:txBody>
      </p:sp>
      <p:sp>
        <p:nvSpPr>
          <p:cNvPr id="270" name="Rectangle 4"/>
          <p:cNvSpPr/>
          <p:nvPr/>
        </p:nvSpPr>
        <p:spPr>
          <a:xfrm>
            <a:off x="658368" y="1965959"/>
            <a:ext cx="5257801" cy="3474722"/>
          </a:xfrm>
          <a:prstGeom prst="rect">
            <a:avLst/>
          </a:prstGeom>
          <a:solidFill>
            <a:srgbClr val="FFFFFF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5"/>
          <p:cNvSpPr txBox="1"/>
          <p:nvPr/>
        </p:nvSpPr>
        <p:spPr>
          <a:xfrm>
            <a:off x="978408" y="2267711"/>
            <a:ext cx="44805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Commercial ownership</a:t>
            </a:r>
          </a:p>
        </p:txBody>
      </p:sp>
      <p:sp>
        <p:nvSpPr>
          <p:cNvPr id="272" name="TextBox 6"/>
          <p:cNvSpPr txBox="1"/>
          <p:nvPr/>
        </p:nvSpPr>
        <p:spPr>
          <a:xfrm>
            <a:off x="978408" y="2880360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3" name="TextBox 7"/>
          <p:cNvSpPr txBox="1"/>
          <p:nvPr/>
        </p:nvSpPr>
        <p:spPr>
          <a:xfrm>
            <a:off x="1234440" y="2880360"/>
            <a:ext cx="41788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Market strategy and prioritization</a:t>
            </a:r>
          </a:p>
        </p:txBody>
      </p:sp>
      <p:sp>
        <p:nvSpPr>
          <p:cNvPr id="274" name="TextBox 8"/>
          <p:cNvSpPr txBox="1"/>
          <p:nvPr/>
        </p:nvSpPr>
        <p:spPr>
          <a:xfrm>
            <a:off x="978408" y="3273552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5" name="TextBox 9"/>
          <p:cNvSpPr txBox="1"/>
          <p:nvPr/>
        </p:nvSpPr>
        <p:spPr>
          <a:xfrm>
            <a:off x="1234440" y="3273552"/>
            <a:ext cx="41788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Account intelligence and outreach</a:t>
            </a:r>
          </a:p>
        </p:txBody>
      </p:sp>
      <p:sp>
        <p:nvSpPr>
          <p:cNvPr id="276" name="TextBox 10"/>
          <p:cNvSpPr txBox="1"/>
          <p:nvPr/>
        </p:nvSpPr>
        <p:spPr>
          <a:xfrm>
            <a:off x="978408" y="3666744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7" name="TextBox 11"/>
          <p:cNvSpPr txBox="1"/>
          <p:nvPr/>
        </p:nvSpPr>
        <p:spPr>
          <a:xfrm>
            <a:off x="1234440" y="3666744"/>
            <a:ext cx="41788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Discovery, qualification and business case</a:t>
            </a:r>
          </a:p>
        </p:txBody>
      </p:sp>
      <p:sp>
        <p:nvSpPr>
          <p:cNvPr id="278" name="TextBox 12"/>
          <p:cNvSpPr txBox="1"/>
          <p:nvPr/>
        </p:nvSpPr>
        <p:spPr>
          <a:xfrm>
            <a:off x="978408" y="4059935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9" name="TextBox 13"/>
          <p:cNvSpPr txBox="1"/>
          <p:nvPr/>
        </p:nvSpPr>
        <p:spPr>
          <a:xfrm>
            <a:off x="1234440" y="4059935"/>
            <a:ext cx="41788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Proposal coordination and negotiation</a:t>
            </a:r>
          </a:p>
        </p:txBody>
      </p:sp>
      <p:sp>
        <p:nvSpPr>
          <p:cNvPr id="280" name="TextBox 14"/>
          <p:cNvSpPr txBox="1"/>
          <p:nvPr/>
        </p:nvSpPr>
        <p:spPr>
          <a:xfrm>
            <a:off x="978408" y="4453128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1" name="TextBox 15"/>
          <p:cNvSpPr txBox="1"/>
          <p:nvPr/>
        </p:nvSpPr>
        <p:spPr>
          <a:xfrm>
            <a:off x="1234440" y="4453128"/>
            <a:ext cx="41788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Account growth and customer-success cadence</a:t>
            </a:r>
          </a:p>
        </p:txBody>
      </p:sp>
      <p:sp>
        <p:nvSpPr>
          <p:cNvPr id="282" name="TextBox 16"/>
          <p:cNvSpPr txBox="1"/>
          <p:nvPr/>
        </p:nvSpPr>
        <p:spPr>
          <a:xfrm>
            <a:off x="978408" y="4846320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3" name="TextBox 17"/>
          <p:cNvSpPr txBox="1"/>
          <p:nvPr/>
        </p:nvSpPr>
        <p:spPr>
          <a:xfrm>
            <a:off x="1234440" y="4846320"/>
            <a:ext cx="41788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Commercial intelligence and operating discipline</a:t>
            </a:r>
          </a:p>
        </p:txBody>
      </p:sp>
      <p:sp>
        <p:nvSpPr>
          <p:cNvPr id="284" name="Rectangle 18"/>
          <p:cNvSpPr/>
          <p:nvPr/>
        </p:nvSpPr>
        <p:spPr>
          <a:xfrm>
            <a:off x="6236208" y="1965959"/>
            <a:ext cx="5257801" cy="3474722"/>
          </a:xfrm>
          <a:prstGeom prst="rect">
            <a:avLst/>
          </a:prstGeom>
          <a:solidFill>
            <a:srgbClr val="F5F5F2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19"/>
          <p:cNvSpPr txBox="1"/>
          <p:nvPr/>
        </p:nvSpPr>
        <p:spPr>
          <a:xfrm>
            <a:off x="6556248" y="2267711"/>
            <a:ext cx="44805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Technical leadership</a:t>
            </a:r>
          </a:p>
        </p:txBody>
      </p:sp>
      <p:sp>
        <p:nvSpPr>
          <p:cNvPr id="286" name="TextBox 20"/>
          <p:cNvSpPr txBox="1"/>
          <p:nvPr/>
        </p:nvSpPr>
        <p:spPr>
          <a:xfrm>
            <a:off x="6556248" y="2880360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7" name="TextBox 21"/>
          <p:cNvSpPr txBox="1"/>
          <p:nvPr/>
        </p:nvSpPr>
        <p:spPr>
          <a:xfrm>
            <a:off x="6812279" y="2880360"/>
            <a:ext cx="417880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Architecture validation</a:t>
            </a:r>
          </a:p>
        </p:txBody>
      </p:sp>
      <p:sp>
        <p:nvSpPr>
          <p:cNvPr id="288" name="TextBox 22"/>
          <p:cNvSpPr txBox="1"/>
          <p:nvPr/>
        </p:nvSpPr>
        <p:spPr>
          <a:xfrm>
            <a:off x="6556248" y="3273552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9" name="TextBox 23"/>
          <p:cNvSpPr txBox="1"/>
          <p:nvPr/>
        </p:nvSpPr>
        <p:spPr>
          <a:xfrm>
            <a:off x="6812279" y="3273552"/>
            <a:ext cx="417880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Roadmap commitments</a:t>
            </a:r>
          </a:p>
        </p:txBody>
      </p:sp>
      <p:sp>
        <p:nvSpPr>
          <p:cNvPr id="290" name="TextBox 24"/>
          <p:cNvSpPr txBox="1"/>
          <p:nvPr/>
        </p:nvSpPr>
        <p:spPr>
          <a:xfrm>
            <a:off x="6556248" y="3666744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91" name="TextBox 25"/>
          <p:cNvSpPr txBox="1"/>
          <p:nvPr/>
        </p:nvSpPr>
        <p:spPr>
          <a:xfrm>
            <a:off x="6812279" y="3666744"/>
            <a:ext cx="417880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Security and compliance validation</a:t>
            </a:r>
          </a:p>
        </p:txBody>
      </p:sp>
      <p:sp>
        <p:nvSpPr>
          <p:cNvPr id="292" name="TextBox 26"/>
          <p:cNvSpPr txBox="1"/>
          <p:nvPr/>
        </p:nvSpPr>
        <p:spPr>
          <a:xfrm>
            <a:off x="6556248" y="4059935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93" name="TextBox 27"/>
          <p:cNvSpPr txBox="1"/>
          <p:nvPr/>
        </p:nvSpPr>
        <p:spPr>
          <a:xfrm>
            <a:off x="6812279" y="4059935"/>
            <a:ext cx="417880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Custom-engineering estimation</a:t>
            </a:r>
          </a:p>
        </p:txBody>
      </p:sp>
      <p:sp>
        <p:nvSpPr>
          <p:cNvPr id="294" name="TextBox 28"/>
          <p:cNvSpPr txBox="1"/>
          <p:nvPr/>
        </p:nvSpPr>
        <p:spPr>
          <a:xfrm>
            <a:off x="6556248" y="4453128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95" name="TextBox 29"/>
          <p:cNvSpPr txBox="1"/>
          <p:nvPr/>
        </p:nvSpPr>
        <p:spPr>
          <a:xfrm>
            <a:off x="6812279" y="4453128"/>
            <a:ext cx="417880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Major technical workshops</a:t>
            </a:r>
          </a:p>
        </p:txBody>
      </p:sp>
      <p:sp>
        <p:nvSpPr>
          <p:cNvPr id="296" name="TextBox 30"/>
          <p:cNvSpPr txBox="1"/>
          <p:nvPr/>
        </p:nvSpPr>
        <p:spPr>
          <a:xfrm>
            <a:off x="6556248" y="4846320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97" name="TextBox 31"/>
          <p:cNvSpPr txBox="1"/>
          <p:nvPr/>
        </p:nvSpPr>
        <p:spPr>
          <a:xfrm>
            <a:off x="6812279" y="4846320"/>
            <a:ext cx="417880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Strategic executive sponsorship</a:t>
            </a:r>
          </a:p>
        </p:txBody>
      </p:sp>
      <p:sp>
        <p:nvSpPr>
          <p:cNvPr id="298" name="TextBox 32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Box 1"/>
          <p:cNvSpPr txBox="1"/>
          <p:nvPr/>
        </p:nvSpPr>
        <p:spPr>
          <a:xfrm>
            <a:off x="640079" y="384047"/>
            <a:ext cx="108813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7D8284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180-DAY COMMERCIAL EXECUTION PLAN</a:t>
            </a:r>
          </a:p>
        </p:txBody>
      </p:sp>
      <p:sp>
        <p:nvSpPr>
          <p:cNvPr id="301" name="TextBox 2"/>
          <p:cNvSpPr txBox="1"/>
          <p:nvPr/>
        </p:nvSpPr>
        <p:spPr>
          <a:xfrm>
            <a:off x="640079" y="713232"/>
            <a:ext cx="108813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first six months should prove the motion and create a system that can scale.</a:t>
            </a:r>
          </a:p>
        </p:txBody>
      </p:sp>
      <p:sp>
        <p:nvSpPr>
          <p:cNvPr id="302" name="TextBox 3"/>
          <p:cNvSpPr txBox="1"/>
          <p:nvPr/>
        </p:nvSpPr>
        <p:spPr>
          <a:xfrm>
            <a:off x="640079" y="1307591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The plan commits to evidence and operating discipline, not arbitrary revenue promises.</a:t>
            </a:r>
          </a:p>
        </p:txBody>
      </p:sp>
      <p:sp>
        <p:nvSpPr>
          <p:cNvPr id="303" name="TextBox 4"/>
          <p:cNvSpPr txBox="1"/>
          <p:nvPr/>
        </p:nvSpPr>
        <p:spPr>
          <a:xfrm>
            <a:off x="704087" y="1874518"/>
            <a:ext cx="7772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1-30</a:t>
            </a:r>
          </a:p>
        </p:txBody>
      </p:sp>
      <p:sp>
        <p:nvSpPr>
          <p:cNvPr id="304" name="TextBox 5"/>
          <p:cNvSpPr txBox="1"/>
          <p:nvPr/>
        </p:nvSpPr>
        <p:spPr>
          <a:xfrm>
            <a:off x="1618487" y="1874518"/>
            <a:ext cx="13258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VALIDATE</a:t>
            </a:r>
          </a:p>
        </p:txBody>
      </p:sp>
      <p:sp>
        <p:nvSpPr>
          <p:cNvPr id="305" name="TextBox 6"/>
          <p:cNvSpPr txBox="1"/>
          <p:nvPr/>
        </p:nvSpPr>
        <p:spPr>
          <a:xfrm>
            <a:off x="3017520" y="1874518"/>
            <a:ext cx="8046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Internal audit, customer/account review, product proof, pricing, ICP and installed-base map.</a:t>
            </a:r>
          </a:p>
        </p:txBody>
      </p:sp>
      <p:sp>
        <p:nvSpPr>
          <p:cNvPr id="306" name="Rectangle 7"/>
          <p:cNvSpPr/>
          <p:nvPr/>
        </p:nvSpPr>
        <p:spPr>
          <a:xfrm>
            <a:off x="658368" y="2331720"/>
            <a:ext cx="10543032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8"/>
          <p:cNvSpPr txBox="1"/>
          <p:nvPr/>
        </p:nvSpPr>
        <p:spPr>
          <a:xfrm>
            <a:off x="704087" y="2532887"/>
            <a:ext cx="7772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31-60</a:t>
            </a:r>
          </a:p>
        </p:txBody>
      </p:sp>
      <p:sp>
        <p:nvSpPr>
          <p:cNvPr id="308" name="TextBox 9"/>
          <p:cNvSpPr txBox="1"/>
          <p:nvPr/>
        </p:nvSpPr>
        <p:spPr>
          <a:xfrm>
            <a:off x="1618487" y="2532887"/>
            <a:ext cx="13258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309" name="TextBox 10"/>
          <p:cNvSpPr txBox="1"/>
          <p:nvPr/>
        </p:nvSpPr>
        <p:spPr>
          <a:xfrm>
            <a:off x="3017520" y="2532887"/>
            <a:ext cx="8046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Account intelligence, messaging, value assets, discovery structure and CRM discipline.</a:t>
            </a:r>
          </a:p>
        </p:txBody>
      </p:sp>
      <p:sp>
        <p:nvSpPr>
          <p:cNvPr id="310" name="Rectangle 11"/>
          <p:cNvSpPr/>
          <p:nvPr/>
        </p:nvSpPr>
        <p:spPr>
          <a:xfrm>
            <a:off x="658368" y="2990087"/>
            <a:ext cx="10543032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12"/>
          <p:cNvSpPr txBox="1"/>
          <p:nvPr/>
        </p:nvSpPr>
        <p:spPr>
          <a:xfrm>
            <a:off x="704087" y="3191255"/>
            <a:ext cx="7772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61-90</a:t>
            </a:r>
          </a:p>
        </p:txBody>
      </p:sp>
      <p:sp>
        <p:nvSpPr>
          <p:cNvPr id="312" name="TextBox 13"/>
          <p:cNvSpPr txBox="1"/>
          <p:nvPr/>
        </p:nvSpPr>
        <p:spPr>
          <a:xfrm>
            <a:off x="1618487" y="3191255"/>
            <a:ext cx="132588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CREATE TRACTION</a:t>
            </a:r>
          </a:p>
        </p:txBody>
      </p:sp>
      <p:sp>
        <p:nvSpPr>
          <p:cNvPr id="313" name="TextBox 14"/>
          <p:cNvSpPr txBox="1"/>
          <p:nvPr/>
        </p:nvSpPr>
        <p:spPr>
          <a:xfrm>
            <a:off x="3017520" y="3191255"/>
            <a:ext cx="8046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Executive conversations, discovery, assessments, workshops and qualified opportunities.</a:t>
            </a:r>
          </a:p>
        </p:txBody>
      </p:sp>
      <p:sp>
        <p:nvSpPr>
          <p:cNvPr id="314" name="Rectangle 15"/>
          <p:cNvSpPr/>
          <p:nvPr/>
        </p:nvSpPr>
        <p:spPr>
          <a:xfrm>
            <a:off x="658368" y="3648455"/>
            <a:ext cx="10543032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16"/>
          <p:cNvSpPr txBox="1"/>
          <p:nvPr/>
        </p:nvSpPr>
        <p:spPr>
          <a:xfrm>
            <a:off x="704087" y="3849623"/>
            <a:ext cx="7772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91-120</a:t>
            </a:r>
          </a:p>
        </p:txBody>
      </p:sp>
      <p:sp>
        <p:nvSpPr>
          <p:cNvPr id="316" name="TextBox 17"/>
          <p:cNvSpPr txBox="1"/>
          <p:nvPr/>
        </p:nvSpPr>
        <p:spPr>
          <a:xfrm>
            <a:off x="1618487" y="3849623"/>
            <a:ext cx="13258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CONVERT</a:t>
            </a:r>
          </a:p>
        </p:txBody>
      </p:sp>
      <p:sp>
        <p:nvSpPr>
          <p:cNvPr id="317" name="TextBox 18"/>
          <p:cNvSpPr txBox="1"/>
          <p:nvPr/>
        </p:nvSpPr>
        <p:spPr>
          <a:xfrm>
            <a:off x="3017520" y="3849623"/>
            <a:ext cx="8046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Business cases, pilots where justified, technical validation and commercial progression.</a:t>
            </a:r>
          </a:p>
        </p:txBody>
      </p:sp>
      <p:sp>
        <p:nvSpPr>
          <p:cNvPr id="318" name="Rectangle 19"/>
          <p:cNvSpPr/>
          <p:nvPr/>
        </p:nvSpPr>
        <p:spPr>
          <a:xfrm>
            <a:off x="658368" y="4306823"/>
            <a:ext cx="10543032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0"/>
          <p:cNvSpPr txBox="1"/>
          <p:nvPr/>
        </p:nvSpPr>
        <p:spPr>
          <a:xfrm>
            <a:off x="704087" y="4507991"/>
            <a:ext cx="7772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121-150</a:t>
            </a:r>
          </a:p>
        </p:txBody>
      </p:sp>
      <p:sp>
        <p:nvSpPr>
          <p:cNvPr id="320" name="TextBox 21"/>
          <p:cNvSpPr txBox="1"/>
          <p:nvPr/>
        </p:nvSpPr>
        <p:spPr>
          <a:xfrm>
            <a:off x="1618487" y="4507991"/>
            <a:ext cx="13258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EXPAND</a:t>
            </a:r>
          </a:p>
        </p:txBody>
      </p:sp>
      <p:sp>
        <p:nvSpPr>
          <p:cNvPr id="321" name="TextBox 22"/>
          <p:cNvSpPr txBox="1"/>
          <p:nvPr/>
        </p:nvSpPr>
        <p:spPr>
          <a:xfrm>
            <a:off x="3017520" y="4507991"/>
            <a:ext cx="8046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Existing-account expansion, cross-sell validation, case studies and win/loss learning.</a:t>
            </a:r>
          </a:p>
        </p:txBody>
      </p:sp>
      <p:sp>
        <p:nvSpPr>
          <p:cNvPr id="322" name="Rectangle 23"/>
          <p:cNvSpPr/>
          <p:nvPr/>
        </p:nvSpPr>
        <p:spPr>
          <a:xfrm>
            <a:off x="658368" y="4965191"/>
            <a:ext cx="10543032" cy="18288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24"/>
          <p:cNvSpPr txBox="1"/>
          <p:nvPr/>
        </p:nvSpPr>
        <p:spPr>
          <a:xfrm>
            <a:off x="704087" y="5166359"/>
            <a:ext cx="7772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689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151-180</a:t>
            </a:r>
          </a:p>
        </p:txBody>
      </p:sp>
      <p:sp>
        <p:nvSpPr>
          <p:cNvPr id="324" name="TextBox 25"/>
          <p:cNvSpPr txBox="1"/>
          <p:nvPr/>
        </p:nvSpPr>
        <p:spPr>
          <a:xfrm>
            <a:off x="1618487" y="5166359"/>
            <a:ext cx="13258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SYSTEMIZE</a:t>
            </a:r>
          </a:p>
        </p:txBody>
      </p:sp>
      <p:sp>
        <p:nvSpPr>
          <p:cNvPr id="325" name="TextBox 26"/>
          <p:cNvSpPr txBox="1"/>
          <p:nvPr/>
        </p:nvSpPr>
        <p:spPr>
          <a:xfrm>
            <a:off x="3017520" y="5166359"/>
            <a:ext cx="8046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E535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Repeatable motions, governance, customer-success cadence and next-phase recommendation.</a:t>
            </a:r>
          </a:p>
        </p:txBody>
      </p:sp>
      <p:sp>
        <p:nvSpPr>
          <p:cNvPr id="326" name="Rectangle 27"/>
          <p:cNvSpPr/>
          <p:nvPr/>
        </p:nvSpPr>
        <p:spPr>
          <a:xfrm>
            <a:off x="658368" y="5623559"/>
            <a:ext cx="10543032" cy="18289"/>
          </a:xfrm>
          <a:prstGeom prst="rect">
            <a:avLst/>
          </a:prstGeom>
          <a:solidFill>
            <a:srgbClr val="DAD8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Rectangle 28"/>
          <p:cNvSpPr/>
          <p:nvPr/>
        </p:nvSpPr>
        <p:spPr>
          <a:xfrm>
            <a:off x="658368" y="5806440"/>
            <a:ext cx="10972801" cy="566929"/>
          </a:xfrm>
          <a:prstGeom prst="rect">
            <a:avLst/>
          </a:prstGeom>
          <a:solidFill>
            <a:srgbClr val="F5F5F2"/>
          </a:solidFill>
          <a:ln w="10160">
            <a:solidFill>
              <a:srgbClr val="DAD8D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TextBox 29"/>
          <p:cNvSpPr txBox="1"/>
          <p:nvPr/>
        </p:nvSpPr>
        <p:spPr>
          <a:xfrm>
            <a:off x="914399" y="5934455"/>
            <a:ext cx="104698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252525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Discussion: What should we validate first, and where should commercial ownership begin?</a:t>
            </a:r>
          </a:p>
        </p:txBody>
      </p:sp>
      <p:sp>
        <p:nvSpPr>
          <p:cNvPr id="329" name="TextBox 30"/>
          <p:cNvSpPr txBox="1"/>
          <p:nvPr/>
        </p:nvSpPr>
        <p:spPr>
          <a:xfrm>
            <a:off x="11247119" y="6428232"/>
            <a:ext cx="320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7D828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